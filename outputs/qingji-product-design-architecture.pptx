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18989cbbc6dc4d20" /><Relationship Type="http://schemas.openxmlformats.org/officeDocument/2006/relationships/extended-properties" Target="/docProps/app.xml" Id="R36566bb30e1341f0" /><Relationship Type="http://schemas.openxmlformats.org/officeDocument/2006/relationships/officeDocument" Target="/ppt/presentation.xml" Id="R21a78ab4896c4118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e5ddd0e76ed54ad8"/>
  </p:sldMasterIdLst>
  <p:notesMasterIdLst>
    <p:notesMasterId xmlns:r="http://schemas.openxmlformats.org/officeDocument/2006/relationships" r:id="Rfa52b786bcd9455d"/>
  </p:notesMasterIdLst>
  <p:sldIdLst>
    <p:sldId xmlns:r="http://schemas.openxmlformats.org/officeDocument/2006/relationships" id="256" r:id="R65879ffabe2a495d"/>
    <p:sldId xmlns:r="http://schemas.openxmlformats.org/officeDocument/2006/relationships" id="257" r:id="R63c1798ece0440a8"/>
    <p:sldId xmlns:r="http://schemas.openxmlformats.org/officeDocument/2006/relationships" id="258" r:id="R5e45d002d0fe482b"/>
    <p:sldId xmlns:r="http://schemas.openxmlformats.org/officeDocument/2006/relationships" id="259" r:id="R605c905f230249c1"/>
    <p:sldId xmlns:r="http://schemas.openxmlformats.org/officeDocument/2006/relationships" id="260" r:id="R75cb9e5e738a41c4"/>
    <p:sldId xmlns:r="http://schemas.openxmlformats.org/officeDocument/2006/relationships" id="261" r:id="R7b7de8b25a5a4152"/>
    <p:sldId xmlns:r="http://schemas.openxmlformats.org/officeDocument/2006/relationships" id="262" r:id="Ra25d4d5fabfa476e"/>
    <p:sldId xmlns:r="http://schemas.openxmlformats.org/officeDocument/2006/relationships" id="263" r:id="R6ac89a6b95ac4a3e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e1f8602f4dfc4ed9" /><Relationship Type="http://schemas.openxmlformats.org/officeDocument/2006/relationships/slideMaster" Target="/ppt/slideMasters/slideMaster1.xml" Id="Re5ddd0e76ed54ad8" /><Relationship Type="http://schemas.openxmlformats.org/officeDocument/2006/relationships/notesMaster" Target="/ppt/notesMasters/notesMaster1.xml" Id="Rfa52b786bcd9455d" /><Relationship Type="http://schemas.openxmlformats.org/officeDocument/2006/relationships/presProps" Target="/ppt/presProps.xml" Id="R10c98b9693f3450f" /><Relationship Type="http://schemas.openxmlformats.org/officeDocument/2006/relationships/tableStyles" Target="/ppt/tableStyles.xml" Id="R73656eadc880434b" /><Relationship Type="http://schemas.openxmlformats.org/officeDocument/2006/relationships/slide" Target="/ppt/slides/slide1.xml" Id="R65879ffabe2a495d" /><Relationship Type="http://schemas.openxmlformats.org/officeDocument/2006/relationships/slide" Target="/ppt/slides/slide2.xml" Id="R63c1798ece0440a8" /><Relationship Type="http://schemas.openxmlformats.org/officeDocument/2006/relationships/slide" Target="/ppt/slides/slide3.xml" Id="R5e45d002d0fe482b" /><Relationship Type="http://schemas.openxmlformats.org/officeDocument/2006/relationships/slide" Target="/ppt/slides/slide4.xml" Id="R605c905f230249c1" /><Relationship Type="http://schemas.openxmlformats.org/officeDocument/2006/relationships/slide" Target="/ppt/slides/slide5.xml" Id="R75cb9e5e738a41c4" /><Relationship Type="http://schemas.openxmlformats.org/officeDocument/2006/relationships/slide" Target="/ppt/slides/slide6.xml" Id="R7b7de8b25a5a4152" /><Relationship Type="http://schemas.openxmlformats.org/officeDocument/2006/relationships/slide" Target="/ppt/slides/slide7.xml" Id="Ra25d4d5fabfa476e" /><Relationship Type="http://schemas.openxmlformats.org/officeDocument/2006/relationships/slide" Target="/ppt/slides/slide8.xml" Id="R6ac89a6b95ac4a3e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8e608592092b4366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e19cf8bf9c45432c" /><Relationship Type="http://schemas.openxmlformats.org/officeDocument/2006/relationships/notesMaster" Target="/ppt/notesMasters/notesMaster1.xml" Id="R7b23505dab0648d9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574c014a97514dbd" /><Relationship Type="http://schemas.openxmlformats.org/officeDocument/2006/relationships/notesMaster" Target="/ppt/notesMasters/notesMaster1.xml" Id="Rb7eb7a6b4cb74036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7ed6c4e53b1a41db" /><Relationship Type="http://schemas.openxmlformats.org/officeDocument/2006/relationships/notesMaster" Target="/ppt/notesMasters/notesMaster1.xml" Id="Rffd975068d5c4572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4f462339bc6e44ba" /><Relationship Type="http://schemas.openxmlformats.org/officeDocument/2006/relationships/notesMaster" Target="/ppt/notesMasters/notesMaster1.xml" Id="Raae5b3473a85469a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17e4c273890d4424" /><Relationship Type="http://schemas.openxmlformats.org/officeDocument/2006/relationships/notesMaster" Target="/ppt/notesMasters/notesMaster1.xml" Id="Re39a4c777c824757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19e03d68eeae4fd5" /><Relationship Type="http://schemas.openxmlformats.org/officeDocument/2006/relationships/notesMaster" Target="/ppt/notesMasters/notesMaster1.xml" Id="R5b78f1d468c746c2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93cbb9adfc26438b" /><Relationship Type="http://schemas.openxmlformats.org/officeDocument/2006/relationships/notesMaster" Target="/ppt/notesMasters/notesMaster1.xml" Id="R059ed11acfcc43fa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1a8f986938d141d1" /><Relationship Type="http://schemas.openxmlformats.org/officeDocument/2006/relationships/notesMaster" Target="/ppt/notesMasters/notesMaster1.xml" Id="Re98740c7e2f74dde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ba4851d48c74576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0da28f75221a40e4" /><Relationship Type="http://schemas.openxmlformats.org/officeDocument/2006/relationships/slideLayout" Target="/ppt/slideLayouts/slideLayout1.xml" Id="Rc55bb82e590d4e58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c55bb82e590d4e58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aad1047c1ef4a23" /><Relationship Type="http://schemas.openxmlformats.org/officeDocument/2006/relationships/notesSlide" Target="/ppt/notesSlides/notesSlide1.xml" Id="R96bfd9c05e854cee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8125120dfeb45ef" /><Relationship Type="http://schemas.openxmlformats.org/officeDocument/2006/relationships/notesSlide" Target="/ppt/notesSlides/notesSlide2.xml" Id="R730fce5ae3ce4501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180421369934e80" /><Relationship Type="http://schemas.openxmlformats.org/officeDocument/2006/relationships/notesSlide" Target="/ppt/notesSlides/notesSlide3.xml" Id="Rfbf483e437974141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c055810c60a4472" /><Relationship Type="http://schemas.openxmlformats.org/officeDocument/2006/relationships/notesSlide" Target="/ppt/notesSlides/notesSlide4.xml" Id="R5f6918303d234184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29e38403dd64eb1" /><Relationship Type="http://schemas.openxmlformats.org/officeDocument/2006/relationships/notesSlide" Target="/ppt/notesSlides/notesSlide5.xml" Id="R1a151cfc295143b5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f7f1a8994e3487c" /><Relationship Type="http://schemas.openxmlformats.org/officeDocument/2006/relationships/notesSlide" Target="/ppt/notesSlides/notesSlide6.xml" Id="Rc72454660a3c4d00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12f0f99f6aa4d48" /><Relationship Type="http://schemas.openxmlformats.org/officeDocument/2006/relationships/notesSlide" Target="/ppt/notesSlides/notesSlide7.xml" Id="R9244ac0df16e484e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fe67617093640fe" /><Relationship Type="http://schemas.openxmlformats.org/officeDocument/2006/relationships/notesSlide" Target="/ppt/notesSlides/notesSlide8.xml" Id="R3f196d59e91b448f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660CADDD-B60D-487B-AB21-41E6B4CB82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742950"/>
            <a:ext cx="40005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1414"/>
          </a:bodyPr>
          <a:lstStyle xmlns:a="http://schemas.openxmlformats.org/drawingml/2006/main"/>
          <a:p xmlns:a="http://schemas.openxmlformats.org/drawingml/2006/main">
            <a:pPr algn="l">
              <a:defRPr sz="4950" b="1">
                <a:solidFill>
                  <a:srgbClr val="111827"/>
                </a:solidFill>
                <a:latin typeface="PingFang SC, Helvetica Neue, Arial, sans-serif"/>
                <a:ea typeface="PingFang SC, Helvetica Neue, Arial, sans-serif"/>
                <a:cs typeface="PingFang SC, Helvetica Neue, Arial, sans-serif"/>
              </a:defRPr>
            </a:pPr>
            <a:r>
              <a:rPr sz="4950" b="1">
                <a:solidFill>
                  <a:srgbClr val="111827"/>
                </a:solidFill>
                <a:latin typeface="PingFang SC, Helvetica Neue, Arial, sans-serif"/>
                <a:ea typeface="PingFang SC, Helvetica Neue, Arial, sans-serif"/>
                <a:cs typeface="PingFang SC, Helvetica Neue, Arial, sans-serif"/>
              </a:rPr>
              <a:t>清记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5EE840D-497A-45EB-A7A2-E8B3C0EE47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790700"/>
            <a:ext cx="6858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400" b="0">
                <a:solidFill>
                  <a:srgbClr val="18202A"/>
                </a:solidFill>
                <a:latin typeface="PingFang SC, Helvetica Neue, Arial, sans-serif"/>
                <a:ea typeface="PingFang SC, Helvetica Neue, Arial, sans-serif"/>
                <a:cs typeface="PingFang SC, Helvetica Neue, Arial, sans-serif"/>
              </a:defRPr>
            </a:pPr>
            <a:r>
              <a:rPr sz="2400" b="0">
                <a:solidFill>
                  <a:srgbClr val="18202A"/>
                </a:solidFill>
                <a:latin typeface="PingFang SC, Helvetica Neue, Arial, sans-serif"/>
                <a:ea typeface="PingFang SC, Helvetica Neue, Arial, sans-serif"/>
                <a:cs typeface="PingFang SC, Helvetica Neue, Arial, sans-serif"/>
              </a:rPr>
              <a:t>桌面笔记软件的产品设计与技术架构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3A14557-0ECF-4212-8A2F-1EB7C00E59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743200"/>
            <a:ext cx="60960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657386"/>
                </a:solidFill>
                <a:latin typeface="PingFang SC, Helvetica Neue, Arial, sans-serif"/>
                <a:ea typeface="PingFang SC, Helvetica Neue, Arial, sans-serif"/>
                <a:cs typeface="PingFang SC, Helvetica Neue, Arial, sans-serif"/>
              </a:defRPr>
            </a:pPr>
            <a:r>
              <a:rPr sz="1575" b="0">
                <a:solidFill>
                  <a:srgbClr val="657386"/>
                </a:solidFill>
                <a:latin typeface="PingFang SC, Helvetica Neue, Arial, sans-serif"/>
                <a:ea typeface="PingFang SC, Helvetica Neue, Arial, sans-serif"/>
                <a:cs typeface="PingFang SC, Helvetica Neue, Arial, sans-serif"/>
              </a:rPr>
              <a:t>围绕“快速记录、可靠本地保存、低学习成本”构建的 Electron + React 本地客户端。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A967075-04AB-4A4F-9015-3E75FB70A9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742950"/>
            <a:ext cx="4629150" cy="5029200"/>
          </a:xfrm>
          <a:prstGeom xmlns:a="http://schemas.openxmlformats.org/drawingml/2006/main" prst="roundRect">
            <a:avLst>
              <a:gd name="adj" fmla="val 1235"/>
            </a:avLst>
          </a:prstGeom>
          <a:solidFill xmlns:a="http://schemas.openxmlformats.org/drawingml/2006/main">
            <a:srgbClr val="F4F6F8"/>
          </a:solidFill>
          <a:ln xmlns:a="http://schemas.openxmlformats.org/drawingml/2006/main" w="9525">
            <a:solidFill>
              <a:srgbClr val="D7DDE5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7F57D89-4CA1-4690-A9BE-DE73867A1B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15150" y="895350"/>
            <a:ext cx="2571750" cy="4724400"/>
          </a:xfrm>
          <a:prstGeom xmlns:a="http://schemas.openxmlformats.org/drawingml/2006/main" prst="roundRect">
            <a:avLst>
              <a:gd name="adj" fmla="val 74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DE5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D4018BC-7A14-45A2-B56F-DF5275816D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1123950"/>
            <a:ext cx="95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6111"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256F6C"/>
                </a:solidFill>
                <a:latin typeface="PingFang SC, Helvetica Neue, Arial, sans-serif"/>
                <a:ea typeface="PingFang SC, Helvetica Neue, Arial, sans-serif"/>
                <a:cs typeface="PingFang SC, Helvetica Neue, Arial, sans-serif"/>
              </a:defRPr>
            </a:pPr>
            <a:r>
              <a:rPr sz="900" b="1">
                <a:solidFill>
                  <a:srgbClr val="256F6C"/>
                </a:solidFill>
                <a:latin typeface="PingFang SC, Helvetica Neue, Arial, sans-serif"/>
                <a:ea typeface="PingFang SC, Helvetica Neue, Arial, sans-serif"/>
                <a:cs typeface="PingFang SC, Helvetica Neue, Arial, sans-serif"/>
              </a:rPr>
              <a:t>Notes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01BBDC6-490D-4CDB-9EA1-E0A32E165F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1333500"/>
            <a:ext cx="1143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4524"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11827"/>
                </a:solidFill>
                <a:latin typeface="PingFang SC, Helvetica Neue, Arial, sans-serif"/>
                <a:ea typeface="PingFang SC, Helvetica Neue, Arial, sans-serif"/>
                <a:cs typeface="PingFang SC, Helvetica Neue, Arial, sans-serif"/>
              </a:defRPr>
            </a:pPr>
            <a:r>
              <a:rPr sz="2100" b="1">
                <a:solidFill>
                  <a:srgbClr val="111827"/>
                </a:solidFill>
                <a:latin typeface="PingFang SC, Helvetica Neue, Arial, sans-serif"/>
                <a:ea typeface="PingFang SC, Helvetica Neue, Arial, sans-serif"/>
                <a:cs typeface="PingFang SC, Helvetica Neue, Arial, sans-serif"/>
              </a:rPr>
              <a:t>清记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15E6FBD-003A-4FF6-8C69-3E3A1959AC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72550" y="1171575"/>
            <a:ext cx="323850" cy="323850"/>
          </a:xfrm>
          <a:prstGeom xmlns:a="http://schemas.openxmlformats.org/drawingml/2006/main" prst="roundRect">
            <a:avLst>
              <a:gd name="adj" fmla="val 5882"/>
            </a:avLst>
          </a:prstGeom>
          <a:solidFill xmlns:a="http://schemas.openxmlformats.org/drawingml/2006/main">
            <a:srgbClr val="256F6C"/>
          </a:solidFill>
          <a:ln xmlns:a="http://schemas.openxmlformats.org/drawingml/2006/main" w="9525">
            <a:solidFill>
              <a:srgbClr val="256F6C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EF6878F-C77F-4AF9-B1B9-7F5A77B9C6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39225" y="1133475"/>
            <a:ext cx="2286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29598"/>
          </a:bodyPr>
          <a:lstStyle xmlns:a="http://schemas.openxmlformats.org/drawingml/2006/main"/>
          <a:p xmlns:a="http://schemas.openxmlformats.org/drawingml/2006/main">
            <a:pPr algn="ctr">
              <a:defRPr sz="2025" b="1">
                <a:solidFill>
                  <a:srgbClr val="FFFFFF"/>
                </a:solidFill>
                <a:latin typeface="PingFang SC, Helvetica Neue, Arial, sans-serif"/>
                <a:ea typeface="PingFang SC, Helvetica Neue, Arial, sans-serif"/>
                <a:cs typeface="PingFang SC, Helvetica Neue, Arial, sans-serif"/>
              </a:defRPr>
            </a:pPr>
            <a:r>
              <a:rPr sz="2025" b="1">
                <a:solidFill>
                  <a:srgbClr val="FFFFFF"/>
                </a:solidFill>
                <a:latin typeface="PingFang SC, Helvetica Neue, Arial, sans-serif"/>
                <a:ea typeface="PingFang SC, Helvetica Neue, Arial, sans-serif"/>
                <a:cs typeface="PingFang SC, Helvetica Neue, Arial, sans-serif"/>
              </a:rPr>
              <a:t>+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A72AF7E-A113-487B-B625-A154899A13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1866900"/>
            <a:ext cx="2114550" cy="400050"/>
          </a:xfrm>
          <a:prstGeom xmlns:a="http://schemas.openxmlformats.org/drawingml/2006/main" prst="roundRect">
            <a:avLst>
              <a:gd name="adj" fmla="val 4762"/>
            </a:avLst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D7DDE5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FFE59D4-F14C-4B5C-9C36-4FE80313EA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96150" y="1971675"/>
            <a:ext cx="18859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8889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57386"/>
                </a:solidFill>
                <a:latin typeface="PingFang SC, Helvetica Neue, Arial, sans-serif"/>
                <a:ea typeface="PingFang SC, Helvetica Neue, Arial, sans-serif"/>
                <a:cs typeface="PingFang SC, Helvetica Neue, Arial, sans-serif"/>
              </a:defRPr>
            </a:pPr>
            <a:r>
              <a:rPr sz="1125" b="0">
                <a:solidFill>
                  <a:srgbClr val="657386"/>
                </a:solidFill>
                <a:latin typeface="PingFang SC, Helvetica Neue, Arial, sans-serif"/>
                <a:ea typeface="PingFang SC, Helvetica Neue, Arial, sans-serif"/>
                <a:cs typeface="PingFang SC, Helvetica Neue, Arial, sans-serif"/>
              </a:rPr>
              <a:t>⌕  搜索标题或内容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63F7A1B-0871-4416-8669-DB0E41E726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2495550"/>
            <a:ext cx="2114550" cy="666750"/>
          </a:xfrm>
          <a:prstGeom xmlns:a="http://schemas.openxmlformats.org/drawingml/2006/main" prst="roundRect">
            <a:avLst>
              <a:gd name="adj" fmla="val 2857"/>
            </a:avLst>
          </a:prstGeom>
          <a:solidFill xmlns:a="http://schemas.openxmlformats.org/drawingml/2006/main">
            <a:srgbClr val="E9F4F2"/>
          </a:solidFill>
          <a:ln xmlns:a="http://schemas.openxmlformats.org/drawingml/2006/main" w="9525">
            <a:solidFill>
              <a:srgbClr val="9CC9C5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D847DBC-F4A1-4874-A54A-4D2C6F6635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86625" y="2590800"/>
            <a:ext cx="18288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4583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11827"/>
                </a:solidFill>
                <a:latin typeface="PingFang SC, Helvetica Neue, Arial, sans-serif"/>
                <a:ea typeface="PingFang SC, Helvetica Neue, Arial, sans-serif"/>
                <a:cs typeface="PingFang SC, Helvetica Neue, Arial, sans-serif"/>
              </a:defRPr>
            </a:pPr>
            <a:r>
              <a:rPr sz="1200" b="1">
                <a:solidFill>
                  <a:srgbClr val="111827"/>
                </a:solidFill>
                <a:latin typeface="PingFang SC, Helvetica Neue, Arial, sans-serif"/>
                <a:ea typeface="PingFang SC, Helvetica Neue, Arial, sans-serif"/>
                <a:cs typeface="PingFang SC, Helvetica Neue, Arial, sans-serif"/>
              </a:rPr>
              <a:t>欢迎使用清记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3732D1A-A0DB-4CE1-A7E4-D328AD1530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86625" y="2828925"/>
            <a:ext cx="18288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6111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57386"/>
                </a:solidFill>
                <a:latin typeface="PingFang SC, Helvetica Neue, Arial, sans-serif"/>
                <a:ea typeface="PingFang SC, Helvetica Neue, Arial, sans-serif"/>
                <a:cs typeface="PingFang SC, Helvetica Neue, Arial, sans-serif"/>
              </a:defRPr>
            </a:pPr>
            <a:r>
              <a:rPr sz="900" b="0">
                <a:solidFill>
                  <a:srgbClr val="657386"/>
                </a:solidFill>
                <a:latin typeface="PingFang SC, Helvetica Neue, Arial, sans-serif"/>
                <a:ea typeface="PingFang SC, Helvetica Neue, Arial, sans-serif"/>
                <a:cs typeface="PingFang SC, Helvetica Neue, Arial, sans-serif"/>
              </a:rPr>
              <a:t>新建或搜索笔记，在右侧编辑内容。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497A9D5-A401-48B7-B28E-AFA37FB1F1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3314700"/>
            <a:ext cx="2114550" cy="666750"/>
          </a:xfrm>
          <a:prstGeom xmlns:a="http://schemas.openxmlformats.org/drawingml/2006/main" prst="roundRect">
            <a:avLst>
              <a:gd name="adj" fmla="val 285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952B847-1C9A-4E46-85EA-D30535A835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86625" y="3409950"/>
            <a:ext cx="18288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4583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11827"/>
                </a:solidFill>
                <a:latin typeface="PingFang SC, Helvetica Neue, Arial, sans-serif"/>
                <a:ea typeface="PingFang SC, Helvetica Neue, Arial, sans-serif"/>
                <a:cs typeface="PingFang SC, Helvetica Neue, Arial, sans-serif"/>
              </a:defRPr>
            </a:pPr>
            <a:r>
              <a:rPr sz="1200" b="1">
                <a:solidFill>
                  <a:srgbClr val="111827"/>
                </a:solidFill>
                <a:latin typeface="PingFang SC, Helvetica Neue, Arial, sans-serif"/>
                <a:ea typeface="PingFang SC, Helvetica Neue, Arial, sans-serif"/>
                <a:cs typeface="PingFang SC, Helvetica Neue, Arial, sans-serif"/>
              </a:rPr>
              <a:t>会议要点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00A3631-1B22-454A-85CA-9D6E9739AD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86625" y="3648075"/>
            <a:ext cx="18288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6111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57386"/>
                </a:solidFill>
                <a:latin typeface="PingFang SC, Helvetica Neue, Arial, sans-serif"/>
                <a:ea typeface="PingFang SC, Helvetica Neue, Arial, sans-serif"/>
                <a:cs typeface="PingFang SC, Helvetica Neue, Arial, sans-serif"/>
              </a:defRPr>
            </a:pPr>
            <a:r>
              <a:rPr sz="900" b="0">
                <a:solidFill>
                  <a:srgbClr val="657386"/>
                </a:solidFill>
                <a:latin typeface="PingFang SC, Helvetica Neue, Arial, sans-serif"/>
                <a:ea typeface="PingFang SC, Helvetica Neue, Arial, sans-serif"/>
                <a:cs typeface="PingFang SC, Helvetica Neue, Arial, sans-serif"/>
              </a:rPr>
              <a:t>同步产品设计与架构边界。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4131A0B-44B5-4F27-BD7A-5429971A20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4133850"/>
            <a:ext cx="2114550" cy="666750"/>
          </a:xfrm>
          <a:prstGeom xmlns:a="http://schemas.openxmlformats.org/drawingml/2006/main" prst="roundRect">
            <a:avLst>
              <a:gd name="adj" fmla="val 285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DFD9B68-5F13-406A-822C-5B60BF5A4A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86625" y="4229100"/>
            <a:ext cx="18288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4583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11827"/>
                </a:solidFill>
                <a:latin typeface="PingFang SC, Helvetica Neue, Arial, sans-serif"/>
                <a:ea typeface="PingFang SC, Helvetica Neue, Arial, sans-serif"/>
                <a:cs typeface="PingFang SC, Helvetica Neue, Arial, sans-serif"/>
              </a:defRPr>
            </a:pPr>
            <a:r>
              <a:rPr sz="1200" b="1">
                <a:solidFill>
                  <a:srgbClr val="111827"/>
                </a:solidFill>
                <a:latin typeface="PingFang SC, Helvetica Neue, Arial, sans-serif"/>
                <a:ea typeface="PingFang SC, Helvetica Neue, Arial, sans-serif"/>
                <a:cs typeface="PingFang SC, Helvetica Neue, Arial, sans-serif"/>
              </a:rPr>
              <a:t>待办清单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D073062-4797-4126-8272-FD7E681F3A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86625" y="4467225"/>
            <a:ext cx="18288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6111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57386"/>
                </a:solidFill>
                <a:latin typeface="PingFang SC, Helvetica Neue, Arial, sans-serif"/>
                <a:ea typeface="PingFang SC, Helvetica Neue, Arial, sans-serif"/>
                <a:cs typeface="PingFang SC, Helvetica Neue, Arial, sans-serif"/>
              </a:defRPr>
            </a:pPr>
            <a:r>
              <a:rPr sz="900" b="0">
                <a:solidFill>
                  <a:srgbClr val="657386"/>
                </a:solidFill>
                <a:latin typeface="PingFang SC, Helvetica Neue, Arial, sans-serif"/>
                <a:ea typeface="PingFang SC, Helvetica Neue, Arial, sans-serif"/>
                <a:cs typeface="PingFang SC, Helvetica Neue, Arial, sans-serif"/>
              </a:rPr>
              <a:t>打包桌面客户端，补充测试。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2F997C3-9E1B-4983-8514-26FA7D8440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77400" y="895350"/>
            <a:ext cx="1562100" cy="4724400"/>
          </a:xfrm>
          <a:prstGeom xmlns:a="http://schemas.openxmlformats.org/drawingml/2006/main" prst="roundRect">
            <a:avLst>
              <a:gd name="adj" fmla="val 122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DE5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1F26562-561B-44D9-A129-23A37DAA97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82200" y="1143000"/>
            <a:ext cx="114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2308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57386"/>
                </a:solidFill>
                <a:latin typeface="PingFang SC, Helvetica Neue, Arial, sans-serif"/>
                <a:ea typeface="PingFang SC, Helvetica Neue, Arial, sans-serif"/>
                <a:cs typeface="PingFang SC, Helvetica Neue, Arial, sans-serif"/>
              </a:defRPr>
            </a:pPr>
            <a:r>
              <a:rPr sz="975" b="0">
                <a:solidFill>
                  <a:srgbClr val="657386"/>
                </a:solidFill>
                <a:latin typeface="PingFang SC, Helvetica Neue, Arial, sans-serif"/>
                <a:ea typeface="PingFang SC, Helvetica Neue, Arial, sans-serif"/>
                <a:cs typeface="PingFang SC, Helvetica Neue, Arial, sans-serif"/>
              </a:rPr>
              <a:t>已保存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21DF97F-DF7A-4C05-BD95-E79FDDB488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10800" y="1104900"/>
            <a:ext cx="666750" cy="304800"/>
          </a:xfrm>
          <a:prstGeom xmlns:a="http://schemas.openxmlformats.org/drawingml/2006/main" prst="roundRect">
            <a:avLst>
              <a:gd name="adj" fmla="val 6250"/>
            </a:avLst>
          </a:prstGeom>
          <a:solidFill xmlns:a="http://schemas.openxmlformats.org/drawingml/2006/main">
            <a:srgbClr val="FFF1F1"/>
          </a:solidFill>
          <a:ln xmlns:a="http://schemas.openxmlformats.org/drawingml/2006/main" w="9525">
            <a:solidFill>
              <a:srgbClr val="F2CCCC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8A59E223-EC67-467A-8536-2D0D21D9E2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91775" y="1162050"/>
            <a:ext cx="4191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50000"/>
          </a:bodyPr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B83232"/>
                </a:solidFill>
                <a:latin typeface="PingFang SC, Helvetica Neue, Arial, sans-serif"/>
                <a:ea typeface="PingFang SC, Helvetica Neue, Arial, sans-serif"/>
                <a:cs typeface="PingFang SC, Helvetica Neue, Arial, sans-serif"/>
              </a:defRPr>
            </a:pPr>
            <a:r>
              <a:rPr sz="1050" b="0">
                <a:solidFill>
                  <a:srgbClr val="B83232"/>
                </a:solidFill>
                <a:latin typeface="PingFang SC, Helvetica Neue, Arial, sans-serif"/>
                <a:ea typeface="PingFang SC, Helvetica Neue, Arial, sans-serif"/>
                <a:cs typeface="PingFang SC, Helvetica Neue, Arial, sans-serif"/>
              </a:rPr>
              <a:t>删除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3460C7BB-8395-4300-8195-BC540D45B0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82200" y="1619250"/>
            <a:ext cx="95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9487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57386"/>
                </a:solidFill>
                <a:latin typeface="PingFang SC, Helvetica Neue, Arial, sans-serif"/>
                <a:ea typeface="PingFang SC, Helvetica Neue, Arial, sans-serif"/>
                <a:cs typeface="PingFang SC, Helvetica Neue, Arial, sans-serif"/>
              </a:defRPr>
            </a:pPr>
            <a:r>
              <a:rPr sz="975" b="1">
                <a:solidFill>
                  <a:srgbClr val="657386"/>
                </a:solidFill>
                <a:latin typeface="PingFang SC, Helvetica Neue, Arial, sans-serif"/>
                <a:ea typeface="PingFang SC, Helvetica Neue, Arial, sans-serif"/>
                <a:cs typeface="PingFang SC, Helvetica Neue, Arial, sans-serif"/>
              </a:rPr>
              <a:t>标题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9E9AACE2-D11E-4706-9E03-6028945E44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82200" y="1885950"/>
            <a:ext cx="952500" cy="514350"/>
          </a:xfrm>
          <a:prstGeom xmlns:a="http://schemas.openxmlformats.org/drawingml/2006/main" prst="roundRect">
            <a:avLst>
              <a:gd name="adj" fmla="val 3704"/>
            </a:avLst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D7DDE5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F0F1E376-C81B-41BD-9D32-8BF28AFA62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53650" y="2000250"/>
            <a:ext cx="6286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42361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11827"/>
                </a:solidFill>
                <a:latin typeface="PingFang SC, Helvetica Neue, Arial, sans-serif"/>
                <a:ea typeface="PingFang SC, Helvetica Neue, Arial, sans-serif"/>
                <a:cs typeface="PingFang SC, Helvetica Neue, Arial, sans-serif"/>
              </a:defRPr>
            </a:pPr>
            <a:r>
              <a:rPr sz="1800" b="1">
                <a:solidFill>
                  <a:srgbClr val="111827"/>
                </a:solidFill>
                <a:latin typeface="PingFang SC, Helvetica Neue, Arial, sans-serif"/>
                <a:ea typeface="PingFang SC, Helvetica Neue, Arial, sans-serif"/>
                <a:cs typeface="PingFang SC, Helvetica Neue, Arial, sans-serif"/>
              </a:rPr>
              <a:t>欢迎使用清记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36B03463-B4BD-41FF-A203-6ED6CFC3E7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82200" y="2628900"/>
            <a:ext cx="95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9487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57386"/>
                </a:solidFill>
                <a:latin typeface="PingFang SC, Helvetica Neue, Arial, sans-serif"/>
                <a:ea typeface="PingFang SC, Helvetica Neue, Arial, sans-serif"/>
                <a:cs typeface="PingFang SC, Helvetica Neue, Arial, sans-serif"/>
              </a:defRPr>
            </a:pPr>
            <a:r>
              <a:rPr sz="975" b="1">
                <a:solidFill>
                  <a:srgbClr val="657386"/>
                </a:solidFill>
                <a:latin typeface="PingFang SC, Helvetica Neue, Arial, sans-serif"/>
                <a:ea typeface="PingFang SC, Helvetica Neue, Arial, sans-serif"/>
                <a:cs typeface="PingFang SC, Helvetica Neue, Arial, sans-serif"/>
              </a:rPr>
              <a:t>内容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0ECD46F4-C27D-4198-9085-89C788F1C4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82200" y="2895600"/>
            <a:ext cx="952500" cy="2343150"/>
          </a:xfrm>
          <a:prstGeom xmlns:a="http://schemas.openxmlformats.org/drawingml/2006/main" prst="roundRect">
            <a:avLst>
              <a:gd name="adj" fmla="val 2000"/>
            </a:avLst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D7DDE5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44569C88-9DA9-4B2B-AD38-404B1F8767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10800" y="3143250"/>
            <a:ext cx="49530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4642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8202A"/>
                </a:solidFill>
                <a:latin typeface="PingFang SC, Helvetica Neue, Arial, sans-serif"/>
                <a:ea typeface="PingFang SC, Helvetica Neue, Arial, sans-serif"/>
                <a:cs typeface="PingFang SC, Helvetica Neue, Arial, sans-serif"/>
              </a:defRPr>
            </a:pPr>
            <a:r>
              <a:rPr sz="1350" b="0">
                <a:solidFill>
                  <a:srgbClr val="18202A"/>
                </a:solidFill>
                <a:latin typeface="PingFang SC, Helvetica Neue, Arial, sans-serif"/>
                <a:ea typeface="PingFang SC, Helvetica Neue, Arial, sans-serif"/>
                <a:cs typeface="PingFang SC, Helvetica Neue, Arial, sans-serif"/>
              </a:rPr>
              <a:t>在左侧新建或搜索笔记，在右侧编辑标题和正文。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350" b="0">
                <a:solidFill>
                  <a:srgbClr val="18202A"/>
                </a:solidFill>
                <a:latin typeface="PingFang SC, Helvetica Neue, Arial, sans-serif"/>
                <a:ea typeface="PingFang SC, Helvetica Neue, Arial, sans-serif"/>
                <a:cs typeface="PingFang SC, Helvetica Neue, Arial, sans-serif"/>
              </a:defRPr>
            </a:pPr>
            <a:r>
              <a:rPr sz="1350" b="0">
                <a:solidFill>
                  <a:srgbClr val="18202A"/>
                </a:solidFill>
                <a:latin typeface="PingFang SC, Helvetica Neue, Arial, sans-serif"/>
                <a:ea typeface="PingFang SC, Helvetica Neue, Arial, sans-serif"/>
                <a:cs typeface="PingFang SC, Helvetica Neue, Arial, sans-serif"/>
              </a:rPr>
              <a:t>所有内容会自动保存在桌面客户端本地。</a:t>
            </a:r>
          </a:p>
        </p:txBody>
      </p:sp>
      <p:cxnSp>
        <p:nvCxnSpPr>
          <p:cNvPr id="64" name=""/>
          <p:cNvCxnSpPr/>
          <p:nvPr/>
        </p:nvCxnSpPr>
        <p:spPr>
          <a:xfrm xmlns:a="http://schemas.openxmlformats.org/drawingml/2006/main">
            <a:off x="400050" y="5715000"/>
            <a:ext cx="4000500" cy="0"/>
          </a:xfrm>
          <a:prstGeom xmlns:a="http://schemas.openxmlformats.org/drawingml/2006/main" prst="straightConnector1">
            <a:avLst/>
          </a:prstGeom>
          <a:ln xmlns:a="http://schemas.openxmlformats.org/drawingml/2006/main" w="38100">
            <a:solidFill>
              <a:srgbClr val="256F6C"/>
            </a:solidFill>
            <a:prstDash val="solid"/>
          </a:ln>
        </p:spPr>
      </p:cxn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46A40F7F-9C25-44F3-A35E-77AF47C926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943600"/>
            <a:ext cx="4000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0196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57386"/>
                </a:solidFill>
                <a:latin typeface="PingFang SC, Helvetica Neue, Arial, sans-serif"/>
                <a:ea typeface="PingFang SC, Helvetica Neue, Arial, sans-serif"/>
                <a:cs typeface="PingFang SC, Helvetica Neue, Arial, sans-serif"/>
              </a:defRPr>
            </a:pPr>
            <a:r>
              <a:rPr sz="1275" b="0">
                <a:solidFill>
                  <a:srgbClr val="657386"/>
                </a:solidFill>
                <a:latin typeface="PingFang SC, Helvetica Neue, Arial, sans-serif"/>
                <a:ea typeface="PingFang SC, Helvetica Neue, Arial, sans-serif"/>
                <a:cs typeface="PingFang SC, Helvetica Neue, Arial, sans-serif"/>
              </a:rPr>
              <a:t>Product &amp; Architecture Review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D0420DED-898D-433D-9F1E-81406AD636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229350"/>
            <a:ext cx="666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57386"/>
                </a:solidFill>
                <a:latin typeface="PingFang SC, Helvetica Neue, Arial, sans-serif"/>
                <a:ea typeface="PingFang SC, Helvetica Neue, Arial, sans-serif"/>
                <a:cs typeface="PingFang SC, Helvetica Neue, Arial, sans-serif"/>
              </a:defRPr>
            </a:pPr>
            <a:r>
              <a:rPr sz="975" b="0">
                <a:solidFill>
                  <a:srgbClr val="657386"/>
                </a:solidFill>
                <a:latin typeface="PingFang SC, Helvetica Neue, Arial, sans-serif"/>
                <a:ea typeface="PingFang SC, Helvetica Neue, Arial, sans-serif"/>
                <a:cs typeface="PingFang SC, Helvetica Neue, Arial, sans-serif"/>
              </a:rPr>
              <a:t>01</a:t>
            </a:r>
          </a:p>
        </p:txBody>
      </p:sp>
    </p:spTree>
    <p:extLst>
      <p:ext uri="{BB962C8B-B14F-4D97-AF65-F5344CB8AC3E}">
        <p14:creationId xmlns:p14="http://schemas.microsoft.com/office/powerpoint/2010/main" val="1942785495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5B9C943E-B940-4810-8D31-CE1451511C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42900"/>
            <a:ext cx="92392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5514"/>
          </a:bodyPr>
          <a:lstStyle xmlns:a="http://schemas.openxmlformats.org/drawingml/2006/main"/>
          <a:p xmlns:a="http://schemas.openxmlformats.org/drawingml/2006/main">
            <a:pPr algn="l">
              <a:defRPr sz="2925" b="0">
                <a:solidFill>
                  <a:srgbClr val="111827"/>
                </a:solidFill>
                <a:latin typeface="PingFang SC, Helvetica Neue, Arial, sans-serif"/>
                <a:ea typeface="PingFang SC, Helvetica Neue, Arial, sans-serif"/>
                <a:cs typeface="PingFang SC, Helvetica Neue, Arial, sans-serif"/>
              </a:defRPr>
            </a:pPr>
            <a:r>
              <a:rPr sz="2925" b="0">
                <a:solidFill>
                  <a:srgbClr val="111827"/>
                </a:solidFill>
                <a:latin typeface="PingFang SC, Helvetica Neue, Arial, sans-serif"/>
                <a:ea typeface="PingFang SC, Helvetica Neue, Arial, sans-serif"/>
                <a:cs typeface="PingFang SC, Helvetica Neue, Arial, sans-serif"/>
              </a:rPr>
              <a:t>产品定位很窄：把记录动作做快，把保存责任交给客户端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814BAF9-0875-45C4-9024-7301661EC3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229350"/>
            <a:ext cx="666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57386"/>
                </a:solidFill>
                <a:latin typeface="PingFang SC, Helvetica Neue, Arial, sans-serif"/>
                <a:ea typeface="PingFang SC, Helvetica Neue, Arial, sans-serif"/>
                <a:cs typeface="PingFang SC, Helvetica Neue, Arial, sans-serif"/>
              </a:defRPr>
            </a:pPr>
            <a:r>
              <a:rPr sz="975" b="0">
                <a:solidFill>
                  <a:srgbClr val="657386"/>
                </a:solidFill>
                <a:latin typeface="PingFang SC, Helvetica Neue, Arial, sans-serif"/>
                <a:ea typeface="PingFang SC, Helvetica Neue, Arial, sans-serif"/>
                <a:cs typeface="PingFang SC, Helvetica Neue, Arial, sans-serif"/>
              </a:rPr>
              <a:t>02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8B6DA50-7452-44F2-AE93-F921B9D194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00250"/>
            <a:ext cx="3143250" cy="2476500"/>
          </a:xfrm>
          <a:prstGeom xmlns:a="http://schemas.openxmlformats.org/drawingml/2006/main" prst="roundRect">
            <a:avLst>
              <a:gd name="adj" fmla="val 2308"/>
            </a:avLst>
          </a:prstGeom>
          <a:solidFill xmlns:a="http://schemas.openxmlformats.org/drawingml/2006/main">
            <a:srgbClr val="F4F6F8"/>
          </a:solidFill>
          <a:ln xmlns:a="http://schemas.openxmlformats.org/drawingml/2006/main" w="9525">
            <a:solidFill>
              <a:srgbClr val="D7DDE5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91C6761-F4C4-489E-8E94-2BE071AAA8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238375"/>
            <a:ext cx="2667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8205"/>
          </a:bodyPr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111827"/>
                </a:solidFill>
                <a:latin typeface="PingFang SC, Helvetica Neue, Arial, sans-serif"/>
                <a:ea typeface="PingFang SC, Helvetica Neue, Arial, sans-serif"/>
                <a:cs typeface="PingFang SC, Helvetica Neue, Arial, sans-serif"/>
              </a:defRPr>
            </a:pPr>
            <a:r>
              <a:rPr sz="1950" b="1">
                <a:solidFill>
                  <a:srgbClr val="111827"/>
                </a:solidFill>
                <a:latin typeface="PingFang SC, Helvetica Neue, Arial, sans-serif"/>
                <a:ea typeface="PingFang SC, Helvetica Neue, Arial, sans-serif"/>
                <a:cs typeface="PingFang SC, Helvetica Neue, Arial, sans-serif"/>
              </a:rPr>
              <a:t>目标用户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7874ED7-6182-4CC8-9712-264778F50B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781300"/>
            <a:ext cx="268605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8202A"/>
                </a:solidFill>
                <a:latin typeface="PingFang SC, Helvetica Neue, Arial, sans-serif"/>
                <a:ea typeface="PingFang SC, Helvetica Neue, Arial, sans-serif"/>
                <a:cs typeface="PingFang SC, Helvetica Neue, Arial, sans-serif"/>
              </a:defRPr>
            </a:pPr>
            <a:r>
              <a:rPr sz="1350" b="0">
                <a:solidFill>
                  <a:srgbClr val="18202A"/>
                </a:solidFill>
                <a:latin typeface="PingFang SC, Helvetica Neue, Arial, sans-serif"/>
                <a:ea typeface="PingFang SC, Helvetica Neue, Arial, sans-serif"/>
                <a:cs typeface="PingFang SC, Helvetica Neue, Arial, sans-serif"/>
              </a:rPr>
              <a:t>• 需要随手记录想法、待办、会议要点的桌面用户</a:t>
            </a:r>
          </a:p>
          <a:p xmlns:a="http://schemas.openxmlformats.org/drawingml/2006/main">
            <a:pPr algn="l">
              <a:defRPr sz="1350" b="0">
                <a:solidFill>
                  <a:srgbClr val="18202A"/>
                </a:solidFill>
                <a:latin typeface="PingFang SC, Helvetica Neue, Arial, sans-serif"/>
                <a:ea typeface="PingFang SC, Helvetica Neue, Arial, sans-serif"/>
                <a:cs typeface="PingFang SC, Helvetica Neue, Arial, sans-serif"/>
              </a:defRPr>
            </a:pPr>
            <a:r>
              <a:rPr sz="1350" b="0">
                <a:solidFill>
                  <a:srgbClr val="18202A"/>
                </a:solidFill>
                <a:latin typeface="PingFang SC, Helvetica Neue, Arial, sans-serif"/>
                <a:ea typeface="PingFang SC, Helvetica Neue, Arial, sans-serif"/>
                <a:cs typeface="PingFang SC, Helvetica Neue, Arial, sans-serif"/>
              </a:rPr>
              <a:t>• 偏好离线可用与本地数据控制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5972AF7-C773-4635-8233-23B25465E9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2000250"/>
            <a:ext cx="3143250" cy="2476500"/>
          </a:xfrm>
          <a:prstGeom xmlns:a="http://schemas.openxmlformats.org/drawingml/2006/main" prst="roundRect">
            <a:avLst>
              <a:gd name="adj" fmla="val 2308"/>
            </a:avLst>
          </a:prstGeom>
          <a:solidFill xmlns:a="http://schemas.openxmlformats.org/drawingml/2006/main">
            <a:srgbClr val="E9F4F2"/>
          </a:solidFill>
          <a:ln xmlns:a="http://schemas.openxmlformats.org/drawingml/2006/main" w="9525">
            <a:solidFill>
              <a:srgbClr val="9CC9C5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C01A649-E608-4484-BB6C-A9DD427434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0100" y="2238375"/>
            <a:ext cx="2667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8205"/>
          </a:bodyPr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111827"/>
                </a:solidFill>
                <a:latin typeface="PingFang SC, Helvetica Neue, Arial, sans-serif"/>
                <a:ea typeface="PingFang SC, Helvetica Neue, Arial, sans-serif"/>
                <a:cs typeface="PingFang SC, Helvetica Neue, Arial, sans-serif"/>
              </a:defRPr>
            </a:pPr>
            <a:r>
              <a:rPr sz="1950" b="1">
                <a:solidFill>
                  <a:srgbClr val="111827"/>
                </a:solidFill>
                <a:latin typeface="PingFang SC, Helvetica Neue, Arial, sans-serif"/>
                <a:ea typeface="PingFang SC, Helvetica Neue, Arial, sans-serif"/>
                <a:cs typeface="PingFang SC, Helvetica Neue, Arial, sans-serif"/>
              </a:rPr>
              <a:t>核心场景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3979E63-9433-4478-9EDC-7BD867C685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0100" y="2781300"/>
            <a:ext cx="268605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8202A"/>
                </a:solidFill>
                <a:latin typeface="PingFang SC, Helvetica Neue, Arial, sans-serif"/>
                <a:ea typeface="PingFang SC, Helvetica Neue, Arial, sans-serif"/>
                <a:cs typeface="PingFang SC, Helvetica Neue, Arial, sans-serif"/>
              </a:defRPr>
            </a:pPr>
            <a:r>
              <a:rPr sz="1350" b="0">
                <a:solidFill>
                  <a:srgbClr val="18202A"/>
                </a:solidFill>
                <a:latin typeface="PingFang SC, Helvetica Neue, Arial, sans-serif"/>
                <a:ea typeface="PingFang SC, Helvetica Neue, Arial, sans-serif"/>
                <a:cs typeface="PingFang SC, Helvetica Neue, Arial, sans-serif"/>
              </a:rPr>
              <a:t>• 打开即写，搜索即找</a:t>
            </a:r>
          </a:p>
          <a:p xmlns:a="http://schemas.openxmlformats.org/drawingml/2006/main">
            <a:pPr algn="l">
              <a:defRPr sz="1350" b="0">
                <a:solidFill>
                  <a:srgbClr val="18202A"/>
                </a:solidFill>
                <a:latin typeface="PingFang SC, Helvetica Neue, Arial, sans-serif"/>
                <a:ea typeface="PingFang SC, Helvetica Neue, Arial, sans-serif"/>
                <a:cs typeface="PingFang SC, Helvetica Neue, Arial, sans-serif"/>
              </a:defRPr>
            </a:pPr>
            <a:r>
              <a:rPr sz="1350" b="0">
                <a:solidFill>
                  <a:srgbClr val="18202A"/>
                </a:solidFill>
                <a:latin typeface="PingFang SC, Helvetica Neue, Arial, sans-serif"/>
                <a:ea typeface="PingFang SC, Helvetica Neue, Arial, sans-serif"/>
                <a:cs typeface="PingFang SC, Helvetica Neue, Arial, sans-serif"/>
              </a:rPr>
              <a:t>• 边输入边保存，减少手动管理负担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4973454-DC99-4298-9B92-C5CCAD137F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2000250"/>
            <a:ext cx="3143250" cy="2476500"/>
          </a:xfrm>
          <a:prstGeom xmlns:a="http://schemas.openxmlformats.org/drawingml/2006/main" prst="roundRect">
            <a:avLst>
              <a:gd name="adj" fmla="val 2308"/>
            </a:avLst>
          </a:prstGeom>
          <a:solidFill xmlns:a="http://schemas.openxmlformats.org/drawingml/2006/main">
            <a:srgbClr val="F4F6F8"/>
          </a:solidFill>
          <a:ln xmlns:a="http://schemas.openxmlformats.org/drawingml/2006/main" w="9525">
            <a:solidFill>
              <a:srgbClr val="D7DDE5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54397BB-2B2C-44FA-A9B9-071BF60377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2238375"/>
            <a:ext cx="2667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8205"/>
          </a:bodyPr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111827"/>
                </a:solidFill>
                <a:latin typeface="PingFang SC, Helvetica Neue, Arial, sans-serif"/>
                <a:ea typeface="PingFang SC, Helvetica Neue, Arial, sans-serif"/>
                <a:cs typeface="PingFang SC, Helvetica Neue, Arial, sans-serif"/>
              </a:defRPr>
            </a:pPr>
            <a:r>
              <a:rPr sz="1950" b="1">
                <a:solidFill>
                  <a:srgbClr val="111827"/>
                </a:solidFill>
                <a:latin typeface="PingFang SC, Helvetica Neue, Arial, sans-serif"/>
                <a:ea typeface="PingFang SC, Helvetica Neue, Arial, sans-serif"/>
                <a:cs typeface="PingFang SC, Helvetica Neue, Arial, sans-serif"/>
              </a:rPr>
              <a:t>设计取舍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C41FE51-5A75-4E73-BB26-60AF1C27AC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2781300"/>
            <a:ext cx="268605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8202A"/>
                </a:solidFill>
                <a:latin typeface="PingFang SC, Helvetica Neue, Arial, sans-serif"/>
                <a:ea typeface="PingFang SC, Helvetica Neue, Arial, sans-serif"/>
                <a:cs typeface="PingFang SC, Helvetica Neue, Arial, sans-serif"/>
              </a:defRPr>
            </a:pPr>
            <a:r>
              <a:rPr sz="1350" b="0">
                <a:solidFill>
                  <a:srgbClr val="18202A"/>
                </a:solidFill>
                <a:latin typeface="PingFang SC, Helvetica Neue, Arial, sans-serif"/>
                <a:ea typeface="PingFang SC, Helvetica Neue, Arial, sans-serif"/>
                <a:cs typeface="PingFang SC, Helvetica Neue, Arial, sans-serif"/>
              </a:rPr>
              <a:t>• 不追求协作、富文本和云同步</a:t>
            </a:r>
          </a:p>
          <a:p xmlns:a="http://schemas.openxmlformats.org/drawingml/2006/main">
            <a:pPr algn="l">
              <a:defRPr sz="1350" b="0">
                <a:solidFill>
                  <a:srgbClr val="18202A"/>
                </a:solidFill>
                <a:latin typeface="PingFang SC, Helvetica Neue, Arial, sans-serif"/>
                <a:ea typeface="PingFang SC, Helvetica Neue, Arial, sans-serif"/>
                <a:cs typeface="PingFang SC, Helvetica Neue, Arial, sans-serif"/>
              </a:defRPr>
            </a:pPr>
            <a:r>
              <a:rPr sz="1350" b="0">
                <a:solidFill>
                  <a:srgbClr val="18202A"/>
                </a:solidFill>
                <a:latin typeface="PingFang SC, Helvetica Neue, Arial, sans-serif"/>
                <a:ea typeface="PingFang SC, Helvetica Neue, Arial, sans-serif"/>
                <a:cs typeface="PingFang SC, Helvetica Neue, Arial, sans-serif"/>
              </a:rPr>
              <a:t>• 先建立轻量、可信、可打包的桌面基础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BE04F1C-4A95-4A81-8BAF-E205EAE102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334000"/>
            <a:ext cx="8572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256F6C"/>
                </a:solidFill>
                <a:latin typeface="PingFang SC, Helvetica Neue, Arial, sans-serif"/>
                <a:ea typeface="PingFang SC, Helvetica Neue, Arial, sans-serif"/>
                <a:cs typeface="PingFang SC, Helvetica Neue, Arial, sans-serif"/>
              </a:defRPr>
            </a:pPr>
            <a:r>
              <a:rPr sz="1800" b="1">
                <a:solidFill>
                  <a:srgbClr val="256F6C"/>
                </a:solidFill>
                <a:latin typeface="PingFang SC, Helvetica Neue, Arial, sans-serif"/>
                <a:ea typeface="PingFang SC, Helvetica Neue, Arial, sans-serif"/>
                <a:cs typeface="PingFang SC, Helvetica Neue, Arial, sans-serif"/>
              </a:rPr>
              <a:t>一句话判断：它不是知识库平台，而是一个本地优先的日常记录入口。</a:t>
            </a:r>
          </a:p>
        </p:txBody>
      </p:sp>
    </p:spTree>
    <p:extLst>
      <p:ext uri="{BB962C8B-B14F-4D97-AF65-F5344CB8AC3E}">
        <p14:creationId xmlns:p14="http://schemas.microsoft.com/office/powerpoint/2010/main" val="359859472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9918B8F3-2197-4CC7-A75E-52BB703F17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42900"/>
            <a:ext cx="92392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925" b="0">
                <a:solidFill>
                  <a:srgbClr val="111827"/>
                </a:solidFill>
                <a:latin typeface="PingFang SC, Helvetica Neue, Arial, sans-serif"/>
                <a:ea typeface="PingFang SC, Helvetica Neue, Arial, sans-serif"/>
                <a:cs typeface="PingFang SC, Helvetica Neue, Arial, sans-serif"/>
              </a:defRPr>
            </a:pPr>
            <a:r>
              <a:rPr sz="2925" b="0">
                <a:solidFill>
                  <a:srgbClr val="111827"/>
                </a:solidFill>
                <a:latin typeface="PingFang SC, Helvetica Neue, Arial, sans-serif"/>
                <a:ea typeface="PingFang SC, Helvetica Neue, Arial, sans-serif"/>
                <a:cs typeface="PingFang SC, Helvetica Neue, Arial, sans-serif"/>
              </a:rPr>
              <a:t>界面结构用两个区域覆盖主要工作流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4466DEB-9E4A-49DB-AE35-78C5622DAF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229350"/>
            <a:ext cx="666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57386"/>
                </a:solidFill>
                <a:latin typeface="PingFang SC, Helvetica Neue, Arial, sans-serif"/>
                <a:ea typeface="PingFang SC, Helvetica Neue, Arial, sans-serif"/>
                <a:cs typeface="PingFang SC, Helvetica Neue, Arial, sans-serif"/>
              </a:defRPr>
            </a:pPr>
            <a:r>
              <a:rPr sz="975" b="0">
                <a:solidFill>
                  <a:srgbClr val="657386"/>
                </a:solidFill>
                <a:latin typeface="PingFang SC, Helvetica Neue, Arial, sans-serif"/>
                <a:ea typeface="PingFang SC, Helvetica Neue, Arial, sans-serif"/>
                <a:cs typeface="PingFang SC, Helvetica Neue, Arial, sans-serif"/>
              </a:rPr>
              <a:t>03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884DFE7-6F6D-417E-B67B-CFA64DA6F1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466850"/>
            <a:ext cx="5715000" cy="4191000"/>
          </a:xfrm>
          <a:prstGeom xmlns:a="http://schemas.openxmlformats.org/drawingml/2006/main" prst="roundRect">
            <a:avLst>
              <a:gd name="adj" fmla="val 1364"/>
            </a:avLst>
          </a:prstGeom>
          <a:solidFill xmlns:a="http://schemas.openxmlformats.org/drawingml/2006/main">
            <a:srgbClr val="F4F6F8"/>
          </a:solidFill>
          <a:ln xmlns:a="http://schemas.openxmlformats.org/drawingml/2006/main" w="9525">
            <a:solidFill>
              <a:srgbClr val="D7DDE5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4635E2B-C840-4FC2-B6AA-5435894889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619250"/>
            <a:ext cx="2571750" cy="3886200"/>
          </a:xfrm>
          <a:prstGeom xmlns:a="http://schemas.openxmlformats.org/drawingml/2006/main" prst="roundRect">
            <a:avLst>
              <a:gd name="adj" fmla="val 74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DE5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2496433-1185-4914-A4C7-FE92879E5A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1847850"/>
            <a:ext cx="95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6111"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256F6C"/>
                </a:solidFill>
                <a:latin typeface="PingFang SC, Helvetica Neue, Arial, sans-serif"/>
                <a:ea typeface="PingFang SC, Helvetica Neue, Arial, sans-serif"/>
                <a:cs typeface="PingFang SC, Helvetica Neue, Arial, sans-serif"/>
              </a:defRPr>
            </a:pPr>
            <a:r>
              <a:rPr sz="900" b="1">
                <a:solidFill>
                  <a:srgbClr val="256F6C"/>
                </a:solidFill>
                <a:latin typeface="PingFang SC, Helvetica Neue, Arial, sans-serif"/>
                <a:ea typeface="PingFang SC, Helvetica Neue, Arial, sans-serif"/>
                <a:cs typeface="PingFang SC, Helvetica Neue, Arial, sans-serif"/>
              </a:rPr>
              <a:t>Notes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E4FECBB-C730-46E1-B9AF-08C31E34F0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057400"/>
            <a:ext cx="1143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4524"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11827"/>
                </a:solidFill>
                <a:latin typeface="PingFang SC, Helvetica Neue, Arial, sans-serif"/>
                <a:ea typeface="PingFang SC, Helvetica Neue, Arial, sans-serif"/>
                <a:cs typeface="PingFang SC, Helvetica Neue, Arial, sans-serif"/>
              </a:defRPr>
            </a:pPr>
            <a:r>
              <a:rPr sz="2100" b="1">
                <a:solidFill>
                  <a:srgbClr val="111827"/>
                </a:solidFill>
                <a:latin typeface="PingFang SC, Helvetica Neue, Arial, sans-serif"/>
                <a:ea typeface="PingFang SC, Helvetica Neue, Arial, sans-serif"/>
                <a:cs typeface="PingFang SC, Helvetica Neue, Arial, sans-serif"/>
              </a:rPr>
              <a:t>清记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9B3F1A4-7F9B-4485-9B4B-46CFDA9AF8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0350" y="1895475"/>
            <a:ext cx="323850" cy="323850"/>
          </a:xfrm>
          <a:prstGeom xmlns:a="http://schemas.openxmlformats.org/drawingml/2006/main" prst="roundRect">
            <a:avLst>
              <a:gd name="adj" fmla="val 5882"/>
            </a:avLst>
          </a:prstGeom>
          <a:solidFill xmlns:a="http://schemas.openxmlformats.org/drawingml/2006/main">
            <a:srgbClr val="256F6C"/>
          </a:solidFill>
          <a:ln xmlns:a="http://schemas.openxmlformats.org/drawingml/2006/main" w="9525">
            <a:solidFill>
              <a:srgbClr val="256F6C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4A63867-69F0-4419-BF04-C614C5E3BD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67025" y="1857375"/>
            <a:ext cx="2286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29598"/>
          </a:bodyPr>
          <a:lstStyle xmlns:a="http://schemas.openxmlformats.org/drawingml/2006/main"/>
          <a:p xmlns:a="http://schemas.openxmlformats.org/drawingml/2006/main">
            <a:pPr algn="ctr">
              <a:defRPr sz="2025" b="1">
                <a:solidFill>
                  <a:srgbClr val="FFFFFF"/>
                </a:solidFill>
                <a:latin typeface="PingFang SC, Helvetica Neue, Arial, sans-serif"/>
                <a:ea typeface="PingFang SC, Helvetica Neue, Arial, sans-serif"/>
                <a:cs typeface="PingFang SC, Helvetica Neue, Arial, sans-serif"/>
              </a:defRPr>
            </a:pPr>
            <a:r>
              <a:rPr sz="2025" b="1">
                <a:solidFill>
                  <a:srgbClr val="FFFFFF"/>
                </a:solidFill>
                <a:latin typeface="PingFang SC, Helvetica Neue, Arial, sans-serif"/>
                <a:ea typeface="PingFang SC, Helvetica Neue, Arial, sans-serif"/>
                <a:cs typeface="PingFang SC, Helvetica Neue, Arial, sans-serif"/>
              </a:rPr>
              <a:t>+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ED73F6A-6AC1-42E1-9A4C-0E648EA33C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590800"/>
            <a:ext cx="2114550" cy="400050"/>
          </a:xfrm>
          <a:prstGeom xmlns:a="http://schemas.openxmlformats.org/drawingml/2006/main" prst="roundRect">
            <a:avLst>
              <a:gd name="adj" fmla="val 4762"/>
            </a:avLst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D7DDE5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98608C5-5203-4EAA-9520-2253CB50F7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2695575"/>
            <a:ext cx="18859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8889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57386"/>
                </a:solidFill>
                <a:latin typeface="PingFang SC, Helvetica Neue, Arial, sans-serif"/>
                <a:ea typeface="PingFang SC, Helvetica Neue, Arial, sans-serif"/>
                <a:cs typeface="PingFang SC, Helvetica Neue, Arial, sans-serif"/>
              </a:defRPr>
            </a:pPr>
            <a:r>
              <a:rPr sz="1125" b="0">
                <a:solidFill>
                  <a:srgbClr val="657386"/>
                </a:solidFill>
                <a:latin typeface="PingFang SC, Helvetica Neue, Arial, sans-serif"/>
                <a:ea typeface="PingFang SC, Helvetica Neue, Arial, sans-serif"/>
                <a:cs typeface="PingFang SC, Helvetica Neue, Arial, sans-serif"/>
              </a:rPr>
              <a:t>⌕  搜索标题或内容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7241FCF-66C6-4018-B319-8AB1490958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3219450"/>
            <a:ext cx="2114550" cy="666750"/>
          </a:xfrm>
          <a:prstGeom xmlns:a="http://schemas.openxmlformats.org/drawingml/2006/main" prst="roundRect">
            <a:avLst>
              <a:gd name="adj" fmla="val 2857"/>
            </a:avLst>
          </a:prstGeom>
          <a:solidFill xmlns:a="http://schemas.openxmlformats.org/drawingml/2006/main">
            <a:srgbClr val="E9F4F2"/>
          </a:solidFill>
          <a:ln xmlns:a="http://schemas.openxmlformats.org/drawingml/2006/main" w="9525">
            <a:solidFill>
              <a:srgbClr val="9CC9C5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5FE9CCB-ED98-4BA8-B9D5-162CC8619A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" y="3314700"/>
            <a:ext cx="18288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4583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11827"/>
                </a:solidFill>
                <a:latin typeface="PingFang SC, Helvetica Neue, Arial, sans-serif"/>
                <a:ea typeface="PingFang SC, Helvetica Neue, Arial, sans-serif"/>
                <a:cs typeface="PingFang SC, Helvetica Neue, Arial, sans-serif"/>
              </a:defRPr>
            </a:pPr>
            <a:r>
              <a:rPr sz="1200" b="1">
                <a:solidFill>
                  <a:srgbClr val="111827"/>
                </a:solidFill>
                <a:latin typeface="PingFang SC, Helvetica Neue, Arial, sans-serif"/>
                <a:ea typeface="PingFang SC, Helvetica Neue, Arial, sans-serif"/>
                <a:cs typeface="PingFang SC, Helvetica Neue, Arial, sans-serif"/>
              </a:rPr>
              <a:t>欢迎使用清记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AE30080-0124-4671-BA3E-E06966FC82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" y="3552825"/>
            <a:ext cx="18288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6111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57386"/>
                </a:solidFill>
                <a:latin typeface="PingFang SC, Helvetica Neue, Arial, sans-serif"/>
                <a:ea typeface="PingFang SC, Helvetica Neue, Arial, sans-serif"/>
                <a:cs typeface="PingFang SC, Helvetica Neue, Arial, sans-serif"/>
              </a:defRPr>
            </a:pPr>
            <a:r>
              <a:rPr sz="900" b="0">
                <a:solidFill>
                  <a:srgbClr val="657386"/>
                </a:solidFill>
                <a:latin typeface="PingFang SC, Helvetica Neue, Arial, sans-serif"/>
                <a:ea typeface="PingFang SC, Helvetica Neue, Arial, sans-serif"/>
                <a:cs typeface="PingFang SC, Helvetica Neue, Arial, sans-serif"/>
              </a:rPr>
              <a:t>新建或搜索笔记，在右侧编辑内容。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4F00B4D-5F76-476C-AA96-2BD767F5BB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4038600"/>
            <a:ext cx="2114550" cy="666750"/>
          </a:xfrm>
          <a:prstGeom xmlns:a="http://schemas.openxmlformats.org/drawingml/2006/main" prst="roundRect">
            <a:avLst>
              <a:gd name="adj" fmla="val 285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5C4E741-3674-471E-85EF-385E2D65FB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" y="4133850"/>
            <a:ext cx="18288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4583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11827"/>
                </a:solidFill>
                <a:latin typeface="PingFang SC, Helvetica Neue, Arial, sans-serif"/>
                <a:ea typeface="PingFang SC, Helvetica Neue, Arial, sans-serif"/>
                <a:cs typeface="PingFang SC, Helvetica Neue, Arial, sans-serif"/>
              </a:defRPr>
            </a:pPr>
            <a:r>
              <a:rPr sz="1200" b="1">
                <a:solidFill>
                  <a:srgbClr val="111827"/>
                </a:solidFill>
                <a:latin typeface="PingFang SC, Helvetica Neue, Arial, sans-serif"/>
                <a:ea typeface="PingFang SC, Helvetica Neue, Arial, sans-serif"/>
                <a:cs typeface="PingFang SC, Helvetica Neue, Arial, sans-serif"/>
              </a:rPr>
              <a:t>会议要点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2394A8B-E4DB-4570-AD38-474743CC37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" y="4371975"/>
            <a:ext cx="18288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6111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57386"/>
                </a:solidFill>
                <a:latin typeface="PingFang SC, Helvetica Neue, Arial, sans-serif"/>
                <a:ea typeface="PingFang SC, Helvetica Neue, Arial, sans-serif"/>
                <a:cs typeface="PingFang SC, Helvetica Neue, Arial, sans-serif"/>
              </a:defRPr>
            </a:pPr>
            <a:r>
              <a:rPr sz="900" b="0">
                <a:solidFill>
                  <a:srgbClr val="657386"/>
                </a:solidFill>
                <a:latin typeface="PingFang SC, Helvetica Neue, Arial, sans-serif"/>
                <a:ea typeface="PingFang SC, Helvetica Neue, Arial, sans-serif"/>
                <a:cs typeface="PingFang SC, Helvetica Neue, Arial, sans-serif"/>
              </a:rPr>
              <a:t>同步产品设计与架构边界。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524B450-0761-47D7-997C-2FF791354C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4857750"/>
            <a:ext cx="2114550" cy="666750"/>
          </a:xfrm>
          <a:prstGeom xmlns:a="http://schemas.openxmlformats.org/drawingml/2006/main" prst="roundRect">
            <a:avLst>
              <a:gd name="adj" fmla="val 285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453E9CA-A2E6-4BD9-9EE4-F235F12446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" y="4953000"/>
            <a:ext cx="18288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4583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11827"/>
                </a:solidFill>
                <a:latin typeface="PingFang SC, Helvetica Neue, Arial, sans-serif"/>
                <a:ea typeface="PingFang SC, Helvetica Neue, Arial, sans-serif"/>
                <a:cs typeface="PingFang SC, Helvetica Neue, Arial, sans-serif"/>
              </a:defRPr>
            </a:pPr>
            <a:r>
              <a:rPr sz="1200" b="1">
                <a:solidFill>
                  <a:srgbClr val="111827"/>
                </a:solidFill>
                <a:latin typeface="PingFang SC, Helvetica Neue, Arial, sans-serif"/>
                <a:ea typeface="PingFang SC, Helvetica Neue, Arial, sans-serif"/>
                <a:cs typeface="PingFang SC, Helvetica Neue, Arial, sans-serif"/>
              </a:rPr>
              <a:t>待办清单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043004C-726E-4989-9843-1CB845FE9B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" y="5191125"/>
            <a:ext cx="18288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6111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57386"/>
                </a:solidFill>
                <a:latin typeface="PingFang SC, Helvetica Neue, Arial, sans-serif"/>
                <a:ea typeface="PingFang SC, Helvetica Neue, Arial, sans-serif"/>
                <a:cs typeface="PingFang SC, Helvetica Neue, Arial, sans-serif"/>
              </a:defRPr>
            </a:pPr>
            <a:r>
              <a:rPr sz="900" b="0">
                <a:solidFill>
                  <a:srgbClr val="657386"/>
                </a:solidFill>
                <a:latin typeface="PingFang SC, Helvetica Neue, Arial, sans-serif"/>
                <a:ea typeface="PingFang SC, Helvetica Neue, Arial, sans-serif"/>
                <a:cs typeface="PingFang SC, Helvetica Neue, Arial, sans-serif"/>
              </a:rPr>
              <a:t>打包桌面客户端，补充测试。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3273C84-B358-4549-AD7D-C2C2B0AB4B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5200" y="1619250"/>
            <a:ext cx="2647950" cy="3886200"/>
          </a:xfrm>
          <a:prstGeom xmlns:a="http://schemas.openxmlformats.org/drawingml/2006/main" prst="roundRect">
            <a:avLst>
              <a:gd name="adj" fmla="val 71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DE5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AC34C6F-71B2-4CC9-9696-A62FE83D2A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1866900"/>
            <a:ext cx="114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2308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57386"/>
                </a:solidFill>
                <a:latin typeface="PingFang SC, Helvetica Neue, Arial, sans-serif"/>
                <a:ea typeface="PingFang SC, Helvetica Neue, Arial, sans-serif"/>
                <a:cs typeface="PingFang SC, Helvetica Neue, Arial, sans-serif"/>
              </a:defRPr>
            </a:pPr>
            <a:r>
              <a:rPr sz="975" b="0">
                <a:solidFill>
                  <a:srgbClr val="657386"/>
                </a:solidFill>
                <a:latin typeface="PingFang SC, Helvetica Neue, Arial, sans-serif"/>
                <a:ea typeface="PingFang SC, Helvetica Neue, Arial, sans-serif"/>
                <a:cs typeface="PingFang SC, Helvetica Neue, Arial, sans-serif"/>
              </a:rPr>
              <a:t>已保存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AC9BADF-D122-4C3D-A85E-332509B13D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4450" y="1828800"/>
            <a:ext cx="666750" cy="304800"/>
          </a:xfrm>
          <a:prstGeom xmlns:a="http://schemas.openxmlformats.org/drawingml/2006/main" prst="roundRect">
            <a:avLst>
              <a:gd name="adj" fmla="val 6250"/>
            </a:avLst>
          </a:prstGeom>
          <a:solidFill xmlns:a="http://schemas.openxmlformats.org/drawingml/2006/main">
            <a:srgbClr val="FFF1F1"/>
          </a:solidFill>
          <a:ln xmlns:a="http://schemas.openxmlformats.org/drawingml/2006/main" w="9525">
            <a:solidFill>
              <a:srgbClr val="F2CCCC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08A814A-E3A4-4EFF-BBE1-1F07F4B4BF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05425" y="1885950"/>
            <a:ext cx="4191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50000"/>
          </a:bodyPr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B83232"/>
                </a:solidFill>
                <a:latin typeface="PingFang SC, Helvetica Neue, Arial, sans-serif"/>
                <a:ea typeface="PingFang SC, Helvetica Neue, Arial, sans-serif"/>
                <a:cs typeface="PingFang SC, Helvetica Neue, Arial, sans-serif"/>
              </a:defRPr>
            </a:pPr>
            <a:r>
              <a:rPr sz="1050" b="0">
                <a:solidFill>
                  <a:srgbClr val="B83232"/>
                </a:solidFill>
                <a:latin typeface="PingFang SC, Helvetica Neue, Arial, sans-serif"/>
                <a:ea typeface="PingFang SC, Helvetica Neue, Arial, sans-serif"/>
                <a:cs typeface="PingFang SC, Helvetica Neue, Arial, sans-serif"/>
              </a:rPr>
              <a:t>删除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94105B29-9B55-4DB3-B03F-22CF45F1C6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2343150"/>
            <a:ext cx="95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9487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57386"/>
                </a:solidFill>
                <a:latin typeface="PingFang SC, Helvetica Neue, Arial, sans-serif"/>
                <a:ea typeface="PingFang SC, Helvetica Neue, Arial, sans-serif"/>
                <a:cs typeface="PingFang SC, Helvetica Neue, Arial, sans-serif"/>
              </a:defRPr>
            </a:pPr>
            <a:r>
              <a:rPr sz="975" b="1">
                <a:solidFill>
                  <a:srgbClr val="657386"/>
                </a:solidFill>
                <a:latin typeface="PingFang SC, Helvetica Neue, Arial, sans-serif"/>
                <a:ea typeface="PingFang SC, Helvetica Neue, Arial, sans-serif"/>
                <a:cs typeface="PingFang SC, Helvetica Neue, Arial, sans-serif"/>
              </a:rPr>
              <a:t>标题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A79DE64B-4D27-4725-A2CC-CEF234D268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2609850"/>
            <a:ext cx="2038350" cy="514350"/>
          </a:xfrm>
          <a:prstGeom xmlns:a="http://schemas.openxmlformats.org/drawingml/2006/main" prst="roundRect">
            <a:avLst>
              <a:gd name="adj" fmla="val 3704"/>
            </a:avLst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D7DDE5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F7550B20-20BC-49C6-ADE3-B789927D9F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81450" y="2724150"/>
            <a:ext cx="1714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4722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11827"/>
                </a:solidFill>
                <a:latin typeface="PingFang SC, Helvetica Neue, Arial, sans-serif"/>
                <a:ea typeface="PingFang SC, Helvetica Neue, Arial, sans-serif"/>
                <a:cs typeface="PingFang SC, Helvetica Neue, Arial, sans-serif"/>
              </a:defRPr>
            </a:pPr>
            <a:r>
              <a:rPr sz="1800" b="1">
                <a:solidFill>
                  <a:srgbClr val="111827"/>
                </a:solidFill>
                <a:latin typeface="PingFang SC, Helvetica Neue, Arial, sans-serif"/>
                <a:ea typeface="PingFang SC, Helvetica Neue, Arial, sans-serif"/>
                <a:cs typeface="PingFang SC, Helvetica Neue, Arial, sans-serif"/>
              </a:rPr>
              <a:t>欢迎使用清记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F0B489CC-5C4C-470F-B057-E027F0D7AD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3352800"/>
            <a:ext cx="95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9487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57386"/>
                </a:solidFill>
                <a:latin typeface="PingFang SC, Helvetica Neue, Arial, sans-serif"/>
                <a:ea typeface="PingFang SC, Helvetica Neue, Arial, sans-serif"/>
                <a:cs typeface="PingFang SC, Helvetica Neue, Arial, sans-serif"/>
              </a:defRPr>
            </a:pPr>
            <a:r>
              <a:rPr sz="975" b="1">
                <a:solidFill>
                  <a:srgbClr val="657386"/>
                </a:solidFill>
                <a:latin typeface="PingFang SC, Helvetica Neue, Arial, sans-serif"/>
                <a:ea typeface="PingFang SC, Helvetica Neue, Arial, sans-serif"/>
                <a:cs typeface="PingFang SC, Helvetica Neue, Arial, sans-serif"/>
              </a:rPr>
              <a:t>内容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B42255B6-B180-4921-9AFA-51CCCD59B7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3619500"/>
            <a:ext cx="2038350" cy="1504950"/>
          </a:xfrm>
          <a:prstGeom xmlns:a="http://schemas.openxmlformats.org/drawingml/2006/main" prst="roundRect">
            <a:avLst>
              <a:gd name="adj" fmla="val 1266"/>
            </a:avLst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D7DDE5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06CE567B-2CE8-4169-8FA6-E52C5D2EE6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38600" y="3867150"/>
            <a:ext cx="158115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9471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8202A"/>
                </a:solidFill>
                <a:latin typeface="PingFang SC, Helvetica Neue, Arial, sans-serif"/>
                <a:ea typeface="PingFang SC, Helvetica Neue, Arial, sans-serif"/>
                <a:cs typeface="PingFang SC, Helvetica Neue, Arial, sans-serif"/>
              </a:defRPr>
            </a:pPr>
            <a:r>
              <a:rPr sz="1350" b="0">
                <a:solidFill>
                  <a:srgbClr val="18202A"/>
                </a:solidFill>
                <a:latin typeface="PingFang SC, Helvetica Neue, Arial, sans-serif"/>
                <a:ea typeface="PingFang SC, Helvetica Neue, Arial, sans-serif"/>
                <a:cs typeface="PingFang SC, Helvetica Neue, Arial, sans-serif"/>
              </a:rPr>
              <a:t>在左侧新建或搜索笔记，在右侧编辑标题和正文。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350" b="0">
                <a:solidFill>
                  <a:srgbClr val="18202A"/>
                </a:solidFill>
                <a:latin typeface="PingFang SC, Helvetica Neue, Arial, sans-serif"/>
                <a:ea typeface="PingFang SC, Helvetica Neue, Arial, sans-serif"/>
                <a:cs typeface="PingFang SC, Helvetica Neue, Arial, sans-serif"/>
              </a:defRPr>
            </a:pPr>
            <a:r>
              <a:rPr sz="1350" b="0">
                <a:solidFill>
                  <a:srgbClr val="18202A"/>
                </a:solidFill>
                <a:latin typeface="PingFang SC, Helvetica Neue, Arial, sans-serif"/>
                <a:ea typeface="PingFang SC, Helvetica Neue, Arial, sans-serif"/>
                <a:cs typeface="PingFang SC, Helvetica Neue, Arial, sans-serif"/>
              </a:rPr>
              <a:t>所有内容会自动保存在桌面客户端本地。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BD4F6934-807B-4524-8169-492695C6B4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1657350"/>
            <a:ext cx="4000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2619"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11827"/>
                </a:solidFill>
                <a:latin typeface="PingFang SC, Helvetica Neue, Arial, sans-serif"/>
                <a:ea typeface="PingFang SC, Helvetica Neue, Arial, sans-serif"/>
                <a:cs typeface="PingFang SC, Helvetica Neue, Arial, sans-serif"/>
              </a:defRPr>
            </a:pPr>
            <a:r>
              <a:rPr sz="2100" b="1">
                <a:solidFill>
                  <a:srgbClr val="111827"/>
                </a:solidFill>
                <a:latin typeface="PingFang SC, Helvetica Neue, Arial, sans-serif"/>
                <a:ea typeface="PingFang SC, Helvetica Neue, Arial, sans-serif"/>
                <a:cs typeface="PingFang SC, Helvetica Neue, Arial, sans-serif"/>
              </a:rPr>
              <a:t>左侧负责“找与管”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396A6CAF-04F8-4C75-A75F-2956FEDA44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2133600"/>
            <a:ext cx="409575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8202A"/>
                </a:solidFill>
                <a:latin typeface="PingFang SC, Helvetica Neue, Arial, sans-serif"/>
                <a:ea typeface="PingFang SC, Helvetica Neue, Arial, sans-serif"/>
                <a:cs typeface="PingFang SC, Helvetica Neue, Arial, sans-serif"/>
              </a:defRPr>
            </a:pPr>
            <a:r>
              <a:rPr sz="1350" b="0">
                <a:solidFill>
                  <a:srgbClr val="18202A"/>
                </a:solidFill>
                <a:latin typeface="PingFang SC, Helvetica Neue, Arial, sans-serif"/>
                <a:ea typeface="PingFang SC, Helvetica Neue, Arial, sans-serif"/>
                <a:cs typeface="PingFang SC, Helvetica Neue, Arial, sans-serif"/>
              </a:rPr>
              <a:t>• 新建入口始终可见</a:t>
            </a:r>
          </a:p>
          <a:p xmlns:a="http://schemas.openxmlformats.org/drawingml/2006/main">
            <a:pPr algn="l">
              <a:defRPr sz="1350" b="0">
                <a:solidFill>
                  <a:srgbClr val="18202A"/>
                </a:solidFill>
                <a:latin typeface="PingFang SC, Helvetica Neue, Arial, sans-serif"/>
                <a:ea typeface="PingFang SC, Helvetica Neue, Arial, sans-serif"/>
                <a:cs typeface="PingFang SC, Helvetica Neue, Arial, sans-serif"/>
              </a:defRPr>
            </a:pPr>
            <a:r>
              <a:rPr sz="1350" b="0">
                <a:solidFill>
                  <a:srgbClr val="18202A"/>
                </a:solidFill>
                <a:latin typeface="PingFang SC, Helvetica Neue, Arial, sans-serif"/>
                <a:ea typeface="PingFang SC, Helvetica Neue, Arial, sans-serif"/>
                <a:cs typeface="PingFang SC, Helvetica Neue, Arial, sans-serif"/>
              </a:rPr>
              <a:t>• 搜索同时覆盖标题与正文</a:t>
            </a:r>
          </a:p>
          <a:p xmlns:a="http://schemas.openxmlformats.org/drawingml/2006/main">
            <a:pPr algn="l">
              <a:defRPr sz="1350" b="0">
                <a:solidFill>
                  <a:srgbClr val="18202A"/>
                </a:solidFill>
                <a:latin typeface="PingFang SC, Helvetica Neue, Arial, sans-serif"/>
                <a:ea typeface="PingFang SC, Helvetica Neue, Arial, sans-serif"/>
                <a:cs typeface="PingFang SC, Helvetica Neue, Arial, sans-serif"/>
              </a:defRPr>
            </a:pPr>
            <a:r>
              <a:rPr sz="1350" b="0">
                <a:solidFill>
                  <a:srgbClr val="18202A"/>
                </a:solidFill>
                <a:latin typeface="PingFang SC, Helvetica Neue, Arial, sans-serif"/>
                <a:ea typeface="PingFang SC, Helvetica Neue, Arial, sans-serif"/>
                <a:cs typeface="PingFang SC, Helvetica Neue, Arial, sans-serif"/>
              </a:rPr>
              <a:t>• 列表按更新时间倒序，最近工作优先</a:t>
            </a:r>
          </a:p>
          <a:p xmlns:a="http://schemas.openxmlformats.org/drawingml/2006/main">
            <a:pPr algn="l">
              <a:defRPr sz="1350" b="0">
                <a:solidFill>
                  <a:srgbClr val="18202A"/>
                </a:solidFill>
                <a:latin typeface="PingFang SC, Helvetica Neue, Arial, sans-serif"/>
                <a:ea typeface="PingFang SC, Helvetica Neue, Arial, sans-serif"/>
                <a:cs typeface="PingFang SC, Helvetica Neue, Arial, sans-serif"/>
              </a:defRPr>
            </a:pPr>
            <a:r>
              <a:rPr sz="1350" b="0">
                <a:solidFill>
                  <a:srgbClr val="18202A"/>
                </a:solidFill>
                <a:latin typeface="PingFang SC, Helvetica Neue, Arial, sans-serif"/>
                <a:ea typeface="PingFang SC, Helvetica Neue, Arial, sans-serif"/>
                <a:cs typeface="PingFang SC, Helvetica Neue, Arial, sans-serif"/>
              </a:rPr>
              <a:t>• 预览、日期和选中态帮助快速辨认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976151C1-922B-4D61-AC8B-B44B304A94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3943350"/>
            <a:ext cx="4000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2619"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11827"/>
                </a:solidFill>
                <a:latin typeface="PingFang SC, Helvetica Neue, Arial, sans-serif"/>
                <a:ea typeface="PingFang SC, Helvetica Neue, Arial, sans-serif"/>
                <a:cs typeface="PingFang SC, Helvetica Neue, Arial, sans-serif"/>
              </a:defRPr>
            </a:pPr>
            <a:r>
              <a:rPr sz="2100" b="1">
                <a:solidFill>
                  <a:srgbClr val="111827"/>
                </a:solidFill>
                <a:latin typeface="PingFang SC, Helvetica Neue, Arial, sans-serif"/>
                <a:ea typeface="PingFang SC, Helvetica Neue, Arial, sans-serif"/>
                <a:cs typeface="PingFang SC, Helvetica Neue, Arial, sans-serif"/>
              </a:rPr>
              <a:t>右侧负责“写与保存”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37B7EAE7-081A-4D01-84DD-4FBE2D2B1E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4419600"/>
            <a:ext cx="409575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8202A"/>
                </a:solidFill>
                <a:latin typeface="PingFang SC, Helvetica Neue, Arial, sans-serif"/>
                <a:ea typeface="PingFang SC, Helvetica Neue, Arial, sans-serif"/>
                <a:cs typeface="PingFang SC, Helvetica Neue, Arial, sans-serif"/>
              </a:defRPr>
            </a:pPr>
            <a:r>
              <a:rPr sz="1350" b="0">
                <a:solidFill>
                  <a:srgbClr val="18202A"/>
                </a:solidFill>
                <a:latin typeface="PingFang SC, Helvetica Neue, Arial, sans-serif"/>
                <a:ea typeface="PingFang SC, Helvetica Neue, Arial, sans-serif"/>
                <a:cs typeface="PingFang SC, Helvetica Neue, Arial, sans-serif"/>
              </a:rPr>
              <a:t>• 标题与正文分区明确</a:t>
            </a:r>
          </a:p>
          <a:p xmlns:a="http://schemas.openxmlformats.org/drawingml/2006/main">
            <a:pPr algn="l">
              <a:defRPr sz="1350" b="0">
                <a:solidFill>
                  <a:srgbClr val="18202A"/>
                </a:solidFill>
                <a:latin typeface="PingFang SC, Helvetica Neue, Arial, sans-serif"/>
                <a:ea typeface="PingFang SC, Helvetica Neue, Arial, sans-serif"/>
                <a:cs typeface="PingFang SC, Helvetica Neue, Arial, sans-serif"/>
              </a:defRPr>
            </a:pPr>
            <a:r>
              <a:rPr sz="1350" b="0">
                <a:solidFill>
                  <a:srgbClr val="18202A"/>
                </a:solidFill>
                <a:latin typeface="PingFang SC, Helvetica Neue, Arial, sans-serif"/>
                <a:ea typeface="PingFang SC, Helvetica Neue, Arial, sans-serif"/>
                <a:cs typeface="PingFang SC, Helvetica Neue, Arial, sans-serif"/>
              </a:rPr>
              <a:t>• 保存状态可见，错误也能反馈</a:t>
            </a:r>
          </a:p>
          <a:p xmlns:a="http://schemas.openxmlformats.org/drawingml/2006/main">
            <a:pPr algn="l">
              <a:defRPr sz="1350" b="0">
                <a:solidFill>
                  <a:srgbClr val="18202A"/>
                </a:solidFill>
                <a:latin typeface="PingFang SC, Helvetica Neue, Arial, sans-serif"/>
                <a:ea typeface="PingFang SC, Helvetica Neue, Arial, sans-serif"/>
                <a:cs typeface="PingFang SC, Helvetica Neue, Arial, sans-serif"/>
              </a:defRPr>
            </a:pPr>
            <a:r>
              <a:rPr sz="1350" b="0">
                <a:solidFill>
                  <a:srgbClr val="18202A"/>
                </a:solidFill>
                <a:latin typeface="PingFang SC, Helvetica Neue, Arial, sans-serif"/>
                <a:ea typeface="PingFang SC, Helvetica Neue, Arial, sans-serif"/>
                <a:cs typeface="PingFang SC, Helvetica Neue, Arial, sans-serif"/>
              </a:rPr>
              <a:t>• 删除是次级危险操作</a:t>
            </a:r>
          </a:p>
          <a:p xmlns:a="http://schemas.openxmlformats.org/drawingml/2006/main">
            <a:pPr algn="l">
              <a:defRPr sz="1350" b="0">
                <a:solidFill>
                  <a:srgbClr val="18202A"/>
                </a:solidFill>
                <a:latin typeface="PingFang SC, Helvetica Neue, Arial, sans-serif"/>
                <a:ea typeface="PingFang SC, Helvetica Neue, Arial, sans-serif"/>
                <a:cs typeface="PingFang SC, Helvetica Neue, Arial, sans-serif"/>
              </a:defRPr>
            </a:pPr>
            <a:r>
              <a:rPr sz="1350" b="0">
                <a:solidFill>
                  <a:srgbClr val="18202A"/>
                </a:solidFill>
                <a:latin typeface="PingFang SC, Helvetica Neue, Arial, sans-serif"/>
                <a:ea typeface="PingFang SC, Helvetica Neue, Arial, sans-serif"/>
                <a:cs typeface="PingFang SC, Helvetica Neue, Arial, sans-serif"/>
              </a:rPr>
              <a:t>• 空状态给出下一步动作</a:t>
            </a:r>
          </a:p>
        </p:txBody>
      </p:sp>
    </p:spTree>
    <p:extLst>
      <p:ext uri="{BB962C8B-B14F-4D97-AF65-F5344CB8AC3E}">
        <p14:creationId xmlns:p14="http://schemas.microsoft.com/office/powerpoint/2010/main" val="143457500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6DF3BC13-15F1-451B-A3D8-674647B737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42900"/>
            <a:ext cx="92392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925" b="0">
                <a:solidFill>
                  <a:srgbClr val="111827"/>
                </a:solidFill>
                <a:latin typeface="PingFang SC, Helvetica Neue, Arial, sans-serif"/>
                <a:ea typeface="PingFang SC, Helvetica Neue, Arial, sans-serif"/>
                <a:cs typeface="PingFang SC, Helvetica Neue, Arial, sans-serif"/>
              </a:defRPr>
            </a:pPr>
            <a:r>
              <a:rPr sz="2925" b="0">
                <a:solidFill>
                  <a:srgbClr val="111827"/>
                </a:solidFill>
                <a:latin typeface="PingFang SC, Helvetica Neue, Arial, sans-serif"/>
                <a:ea typeface="PingFang SC, Helvetica Neue, Arial, sans-serif"/>
                <a:cs typeface="PingFang SC, Helvetica Neue, Arial, sans-serif"/>
              </a:rPr>
              <a:t>体验细节围绕“少打断、低认知、可恢复”展开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C859179-8D6C-4D96-B1F7-33697140C1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229350"/>
            <a:ext cx="666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57386"/>
                </a:solidFill>
                <a:latin typeface="PingFang SC, Helvetica Neue, Arial, sans-serif"/>
                <a:ea typeface="PingFang SC, Helvetica Neue, Arial, sans-serif"/>
                <a:cs typeface="PingFang SC, Helvetica Neue, Arial, sans-serif"/>
              </a:defRPr>
            </a:pPr>
            <a:r>
              <a:rPr sz="975" b="0">
                <a:solidFill>
                  <a:srgbClr val="657386"/>
                </a:solidFill>
                <a:latin typeface="PingFang SC, Helvetica Neue, Arial, sans-serif"/>
                <a:ea typeface="PingFang SC, Helvetica Neue, Arial, sans-serif"/>
                <a:cs typeface="PingFang SC, Helvetica Neue, Arial, sans-serif"/>
              </a:rPr>
              <a:t>04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BB8E443-F8DE-49DD-B8C8-DFBCDEFB0F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4953000" cy="1352550"/>
          </a:xfrm>
          <a:prstGeom xmlns:a="http://schemas.openxmlformats.org/drawingml/2006/main" prst="roundRect">
            <a:avLst>
              <a:gd name="adj" fmla="val 4225"/>
            </a:avLst>
          </a:prstGeom>
          <a:solidFill xmlns:a="http://schemas.openxmlformats.org/drawingml/2006/main">
            <a:srgbClr val="E9F4F2"/>
          </a:solidFill>
          <a:ln xmlns:a="http://schemas.openxmlformats.org/drawingml/2006/main" w="9525">
            <a:solidFill>
              <a:srgbClr val="9CC9C5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FF411C8-4AF7-44C0-8C86-06A485C8CA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038350"/>
            <a:ext cx="2381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8205"/>
          </a:bodyPr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111827"/>
                </a:solidFill>
                <a:latin typeface="PingFang SC, Helvetica Neue, Arial, sans-serif"/>
                <a:ea typeface="PingFang SC, Helvetica Neue, Arial, sans-serif"/>
                <a:cs typeface="PingFang SC, Helvetica Neue, Arial, sans-serif"/>
              </a:defRPr>
            </a:pPr>
            <a:r>
              <a:rPr sz="1950" b="1">
                <a:solidFill>
                  <a:srgbClr val="111827"/>
                </a:solidFill>
                <a:latin typeface="PingFang SC, Helvetica Neue, Arial, sans-serif"/>
                <a:ea typeface="PingFang SC, Helvetica Neue, Arial, sans-serif"/>
                <a:cs typeface="PingFang SC, Helvetica Neue, Arial, sans-serif"/>
              </a:rPr>
              <a:t>自动保存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E3FCC53-219D-43D0-82DB-4D2AD190D8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476500"/>
            <a:ext cx="4286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4118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8202A"/>
                </a:solidFill>
                <a:latin typeface="PingFang SC, Helvetica Neue, Arial, sans-serif"/>
                <a:ea typeface="PingFang SC, Helvetica Neue, Arial, sans-serif"/>
                <a:cs typeface="PingFang SC, Helvetica Neue, Arial, sans-serif"/>
              </a:defRPr>
            </a:pPr>
            <a:r>
              <a:rPr sz="1275" b="0">
                <a:solidFill>
                  <a:srgbClr val="18202A"/>
                </a:solidFill>
                <a:latin typeface="PingFang SC, Helvetica Neue, Arial, sans-serif"/>
                <a:ea typeface="PingFang SC, Helvetica Neue, Arial, sans-serif"/>
                <a:cs typeface="PingFang SC, Helvetica Neue, Arial, sans-serif"/>
              </a:rPr>
              <a:t>输入后立即持久化，状态从“保存中...”回到“已保存”，失败时明确暴露。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0306132-BCBF-448B-B133-28CA721F62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1809750"/>
            <a:ext cx="4953000" cy="1352550"/>
          </a:xfrm>
          <a:prstGeom xmlns:a="http://schemas.openxmlformats.org/drawingml/2006/main" prst="roundRect">
            <a:avLst>
              <a:gd name="adj" fmla="val 4225"/>
            </a:avLst>
          </a:prstGeom>
          <a:solidFill xmlns:a="http://schemas.openxmlformats.org/drawingml/2006/main">
            <a:srgbClr val="F4F6F8"/>
          </a:solidFill>
          <a:ln xmlns:a="http://schemas.openxmlformats.org/drawingml/2006/main" w="9525">
            <a:solidFill>
              <a:srgbClr val="D7DDE5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E42A6E4-44F3-4FF3-9BEC-4D7A38D300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2038350"/>
            <a:ext cx="2381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8205"/>
          </a:bodyPr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111827"/>
                </a:solidFill>
                <a:latin typeface="PingFang SC, Helvetica Neue, Arial, sans-serif"/>
                <a:ea typeface="PingFang SC, Helvetica Neue, Arial, sans-serif"/>
                <a:cs typeface="PingFang SC, Helvetica Neue, Arial, sans-serif"/>
              </a:defRPr>
            </a:pPr>
            <a:r>
              <a:rPr sz="1950" b="1">
                <a:solidFill>
                  <a:srgbClr val="111827"/>
                </a:solidFill>
                <a:latin typeface="PingFang SC, Helvetica Neue, Arial, sans-serif"/>
                <a:ea typeface="PingFang SC, Helvetica Neue, Arial, sans-serif"/>
                <a:cs typeface="PingFang SC, Helvetica Neue, Arial, sans-serif"/>
              </a:rPr>
              <a:t>搜索内聚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14A0901-2BB5-4275-B8EE-3DB59B023D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2476500"/>
            <a:ext cx="4286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4118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8202A"/>
                </a:solidFill>
                <a:latin typeface="PingFang SC, Helvetica Neue, Arial, sans-serif"/>
                <a:ea typeface="PingFang SC, Helvetica Neue, Arial, sans-serif"/>
                <a:cs typeface="PingFang SC, Helvetica Neue, Arial, sans-serif"/>
              </a:defRPr>
            </a:pPr>
            <a:r>
              <a:rPr sz="1275" b="0">
                <a:solidFill>
                  <a:srgbClr val="18202A"/>
                </a:solidFill>
                <a:latin typeface="PingFang SC, Helvetica Neue, Arial, sans-serif"/>
                <a:ea typeface="PingFang SC, Helvetica Neue, Arial, sans-serif"/>
                <a:cs typeface="PingFang SC, Helvetica Neue, Arial, sans-serif"/>
              </a:rPr>
              <a:t>查询逻辑在共享层统一处理，标题与正文组合匹配，结果保持更新时间排序。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12E5143-285D-486B-BC02-E73E662D73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0"/>
            <a:ext cx="4953000" cy="1352550"/>
          </a:xfrm>
          <a:prstGeom xmlns:a="http://schemas.openxmlformats.org/drawingml/2006/main" prst="roundRect">
            <a:avLst>
              <a:gd name="adj" fmla="val 4225"/>
            </a:avLst>
          </a:prstGeom>
          <a:solidFill xmlns:a="http://schemas.openxmlformats.org/drawingml/2006/main">
            <a:srgbClr val="F4F6F8"/>
          </a:solidFill>
          <a:ln xmlns:a="http://schemas.openxmlformats.org/drawingml/2006/main" w="9525">
            <a:solidFill>
              <a:srgbClr val="D7DDE5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43CE261-4831-46D5-A1C7-446391BD74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229100"/>
            <a:ext cx="2381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8205"/>
          </a:bodyPr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111827"/>
                </a:solidFill>
                <a:latin typeface="PingFang SC, Helvetica Neue, Arial, sans-serif"/>
                <a:ea typeface="PingFang SC, Helvetica Neue, Arial, sans-serif"/>
                <a:cs typeface="PingFang SC, Helvetica Neue, Arial, sans-serif"/>
              </a:defRPr>
            </a:pPr>
            <a:r>
              <a:rPr sz="1950" b="1">
                <a:solidFill>
                  <a:srgbClr val="111827"/>
                </a:solidFill>
                <a:latin typeface="PingFang SC, Helvetica Neue, Arial, sans-serif"/>
                <a:ea typeface="PingFang SC, Helvetica Neue, Arial, sans-serif"/>
                <a:cs typeface="PingFang SC, Helvetica Neue, Arial, sans-serif"/>
              </a:rPr>
              <a:t>主题切换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A938AFD-1B46-4392-A488-85FBC33F89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667250"/>
            <a:ext cx="4286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4118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8202A"/>
                </a:solidFill>
                <a:latin typeface="PingFang SC, Helvetica Neue, Arial, sans-serif"/>
                <a:ea typeface="PingFang SC, Helvetica Neue, Arial, sans-serif"/>
                <a:cs typeface="PingFang SC, Helvetica Neue, Arial, sans-serif"/>
              </a:defRPr>
            </a:pPr>
            <a:r>
              <a:rPr sz="1275" b="0">
                <a:solidFill>
                  <a:srgbClr val="18202A"/>
                </a:solidFill>
                <a:latin typeface="PingFang SC, Helvetica Neue, Arial, sans-serif"/>
                <a:ea typeface="PingFang SC, Helvetica Neue, Arial, sans-serif"/>
                <a:cs typeface="PingFang SC, Helvetica Neue, Arial, sans-serif"/>
              </a:rPr>
              <a:t>light/dark 是数据模型的一部分，通过根节点 data-theme 驱动 CSS token。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3C86589-6914-47C6-AD4A-BD7003D823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4000500"/>
            <a:ext cx="4953000" cy="1352550"/>
          </a:xfrm>
          <a:prstGeom xmlns:a="http://schemas.openxmlformats.org/drawingml/2006/main" prst="roundRect">
            <a:avLst>
              <a:gd name="adj" fmla="val 4225"/>
            </a:avLst>
          </a:prstGeom>
          <a:solidFill xmlns:a="http://schemas.openxmlformats.org/drawingml/2006/main">
            <a:srgbClr val="F4F6F8"/>
          </a:solidFill>
          <a:ln xmlns:a="http://schemas.openxmlformats.org/drawingml/2006/main" w="9525">
            <a:solidFill>
              <a:srgbClr val="D7DDE5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9FBFBD3-47AA-4451-ADC9-23CDB2A795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4229100"/>
            <a:ext cx="2381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8205"/>
          </a:bodyPr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111827"/>
                </a:solidFill>
                <a:latin typeface="PingFang SC, Helvetica Neue, Arial, sans-serif"/>
                <a:ea typeface="PingFang SC, Helvetica Neue, Arial, sans-serif"/>
                <a:cs typeface="PingFang SC, Helvetica Neue, Arial, sans-serif"/>
              </a:defRPr>
            </a:pPr>
            <a:r>
              <a:rPr sz="1950" b="1">
                <a:solidFill>
                  <a:srgbClr val="111827"/>
                </a:solidFill>
                <a:latin typeface="PingFang SC, Helvetica Neue, Arial, sans-serif"/>
                <a:ea typeface="PingFang SC, Helvetica Neue, Arial, sans-serif"/>
                <a:cs typeface="PingFang SC, Helvetica Neue, Arial, sans-serif"/>
              </a:rPr>
              <a:t>容错启动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3264DCD-0623-4D19-B4F4-561A644C4E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4667250"/>
            <a:ext cx="4286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4118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8202A"/>
                </a:solidFill>
                <a:latin typeface="PingFang SC, Helvetica Neue, Arial, sans-serif"/>
                <a:ea typeface="PingFang SC, Helvetica Neue, Arial, sans-serif"/>
                <a:cs typeface="PingFang SC, Helvetica Neue, Arial, sans-serif"/>
              </a:defRPr>
            </a:pPr>
            <a:r>
              <a:rPr sz="1275" b="0">
                <a:solidFill>
                  <a:srgbClr val="18202A"/>
                </a:solidFill>
                <a:latin typeface="PingFang SC, Helvetica Neue, Arial, sans-serif"/>
                <a:ea typeface="PingFang SC, Helvetica Neue, Arial, sans-serif"/>
                <a:cs typeface="PingFang SC, Helvetica Neue, Arial, sans-serif"/>
              </a:rPr>
              <a:t>数据读取失败或格式异常时回退欢迎笔记，应用仍能进入可用状态。</a:t>
            </a:r>
          </a:p>
        </p:txBody>
      </p:sp>
    </p:spTree>
    <p:extLst>
      <p:ext uri="{BB962C8B-B14F-4D97-AF65-F5344CB8AC3E}">
        <p14:creationId xmlns:p14="http://schemas.microsoft.com/office/powerpoint/2010/main" val="429016072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C4BEFEA1-C6CA-4E55-869C-7AF1DB3D7E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42900"/>
            <a:ext cx="92392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925" b="0">
                <a:solidFill>
                  <a:srgbClr val="111827"/>
                </a:solidFill>
                <a:latin typeface="PingFang SC, Helvetica Neue, Arial, sans-serif"/>
                <a:ea typeface="PingFang SC, Helvetica Neue, Arial, sans-serif"/>
                <a:cs typeface="PingFang SC, Helvetica Neue, Arial, sans-serif"/>
              </a:defRPr>
            </a:pPr>
            <a:r>
              <a:rPr sz="2925" b="0">
                <a:solidFill>
                  <a:srgbClr val="111827"/>
                </a:solidFill>
                <a:latin typeface="PingFang SC, Helvetica Neue, Arial, sans-serif"/>
                <a:ea typeface="PingFang SC, Helvetica Neue, Arial, sans-serif"/>
                <a:cs typeface="PingFang SC, Helvetica Neue, Arial, sans-serif"/>
              </a:rPr>
              <a:t>技术架构把 UI、业务规则和系统能力分层隔离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122A40F-3568-4ECF-B15E-39F890EEF3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229350"/>
            <a:ext cx="666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57386"/>
                </a:solidFill>
                <a:latin typeface="PingFang SC, Helvetica Neue, Arial, sans-serif"/>
                <a:ea typeface="PingFang SC, Helvetica Neue, Arial, sans-serif"/>
                <a:cs typeface="PingFang SC, Helvetica Neue, Arial, sans-serif"/>
              </a:defRPr>
            </a:pPr>
            <a:r>
              <a:rPr sz="975" b="0">
                <a:solidFill>
                  <a:srgbClr val="657386"/>
                </a:solidFill>
                <a:latin typeface="PingFang SC, Helvetica Neue, Arial, sans-serif"/>
                <a:ea typeface="PingFang SC, Helvetica Neue, Arial, sans-serif"/>
                <a:cs typeface="PingFang SC, Helvetica Neue, Arial, sans-serif"/>
              </a:rPr>
              <a:t>05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25C304A-12BE-4810-BCDF-8420E5098C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885950"/>
            <a:ext cx="2095500" cy="914400"/>
          </a:xfrm>
          <a:prstGeom xmlns:a="http://schemas.openxmlformats.org/drawingml/2006/main" prst="roundRect">
            <a:avLst>
              <a:gd name="adj" fmla="val 2083"/>
            </a:avLst>
          </a:prstGeom>
          <a:solidFill xmlns:a="http://schemas.openxmlformats.org/drawingml/2006/main">
            <a:srgbClr val="E9F4F2"/>
          </a:solidFill>
          <a:ln xmlns:a="http://schemas.openxmlformats.org/drawingml/2006/main" w="9525">
            <a:solidFill>
              <a:srgbClr val="D7DDE5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1463EC5-1228-461C-ABD9-099133C158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019300"/>
            <a:ext cx="18288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11827"/>
                </a:solidFill>
                <a:latin typeface="PingFang SC, Helvetica Neue, Arial, sans-serif"/>
                <a:ea typeface="PingFang SC, Helvetica Neue, Arial, sans-serif"/>
                <a:cs typeface="PingFang SC, Helvetica Neue, Arial, sans-serif"/>
              </a:defRPr>
            </a:pPr>
            <a:r>
              <a:rPr sz="1350" b="1">
                <a:solidFill>
                  <a:srgbClr val="111827"/>
                </a:solidFill>
                <a:latin typeface="PingFang SC, Helvetica Neue, Arial, sans-serif"/>
                <a:ea typeface="PingFang SC, Helvetica Neue, Arial, sans-serif"/>
                <a:cs typeface="PingFang SC, Helvetica Neue, Arial, sans-serif"/>
              </a:rPr>
              <a:t>React Renderer</a:t>
            </a:r>
          </a:p>
          <a:p xmlns:a="http://schemas.openxmlformats.org/drawingml/2006/main">
            <a:pPr algn="ctr">
              <a:defRPr sz="1350" b="1">
                <a:solidFill>
                  <a:srgbClr val="111827"/>
                </a:solidFill>
                <a:latin typeface="PingFang SC, Helvetica Neue, Arial, sans-serif"/>
                <a:ea typeface="PingFang SC, Helvetica Neue, Arial, sans-serif"/>
                <a:cs typeface="PingFang SC, Helvetica Neue, Arial, sans-serif"/>
              </a:defRPr>
            </a:pPr>
            <a:r>
              <a:rPr sz="1350" b="1">
                <a:solidFill>
                  <a:srgbClr val="111827"/>
                </a:solidFill>
                <a:latin typeface="PingFang SC, Helvetica Neue, Arial, sans-serif"/>
                <a:ea typeface="PingFang SC, Helvetica Neue, Arial, sans-serif"/>
                <a:cs typeface="PingFang SC, Helvetica Neue, Arial, sans-serif"/>
              </a:rPr>
              <a:t>App.tsx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9788653-706C-4F33-BA9D-43F77C63DB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300" y="1885950"/>
            <a:ext cx="2095500" cy="914400"/>
          </a:xfrm>
          <a:prstGeom xmlns:a="http://schemas.openxmlformats.org/drawingml/2006/main" prst="roundRect">
            <a:avLst>
              <a:gd name="adj" fmla="val 2083"/>
            </a:avLst>
          </a:prstGeom>
          <a:solidFill xmlns:a="http://schemas.openxmlformats.org/drawingml/2006/main">
            <a:srgbClr val="F4F6F8"/>
          </a:solidFill>
          <a:ln xmlns:a="http://schemas.openxmlformats.org/drawingml/2006/main" w="9525">
            <a:solidFill>
              <a:srgbClr val="D7DDE5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9ACFAE6-4A02-44A6-8AA2-ABE0AC9387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76650" y="2019300"/>
            <a:ext cx="18288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11827"/>
                </a:solidFill>
                <a:latin typeface="PingFang SC, Helvetica Neue, Arial, sans-serif"/>
                <a:ea typeface="PingFang SC, Helvetica Neue, Arial, sans-serif"/>
                <a:cs typeface="PingFang SC, Helvetica Neue, Arial, sans-serif"/>
              </a:defRPr>
            </a:pPr>
            <a:r>
              <a:rPr sz="1350" b="1">
                <a:solidFill>
                  <a:srgbClr val="111827"/>
                </a:solidFill>
                <a:latin typeface="PingFang SC, Helvetica Neue, Arial, sans-serif"/>
                <a:ea typeface="PingFang SC, Helvetica Neue, Arial, sans-serif"/>
                <a:cs typeface="PingFang SC, Helvetica Neue, Arial, sans-serif"/>
              </a:rPr>
              <a:t>Shared Domain</a:t>
            </a:r>
          </a:p>
          <a:p xmlns:a="http://schemas.openxmlformats.org/drawingml/2006/main">
            <a:pPr algn="ctr">
              <a:defRPr sz="1350" b="1">
                <a:solidFill>
                  <a:srgbClr val="111827"/>
                </a:solidFill>
                <a:latin typeface="PingFang SC, Helvetica Neue, Arial, sans-serif"/>
                <a:ea typeface="PingFang SC, Helvetica Neue, Arial, sans-serif"/>
                <a:cs typeface="PingFang SC, Helvetica Neue, Arial, sans-serif"/>
              </a:defRPr>
            </a:pPr>
            <a:r>
              <a:rPr sz="1350" b="1">
                <a:solidFill>
                  <a:srgbClr val="111827"/>
                </a:solidFill>
                <a:latin typeface="PingFang SC, Helvetica Neue, Arial, sans-serif"/>
                <a:ea typeface="PingFang SC, Helvetica Neue, Arial, sans-serif"/>
                <a:cs typeface="PingFang SC, Helvetica Neue, Arial, sans-serif"/>
              </a:rPr>
              <a:t>notes.ts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B190E01-E791-4F3F-952C-6089B1BB8F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1885950"/>
            <a:ext cx="2095500" cy="914400"/>
          </a:xfrm>
          <a:prstGeom xmlns:a="http://schemas.openxmlformats.org/drawingml/2006/main" prst="roundRect">
            <a:avLst>
              <a:gd name="adj" fmla="val 2083"/>
            </a:avLst>
          </a:prstGeom>
          <a:solidFill xmlns:a="http://schemas.openxmlformats.org/drawingml/2006/main">
            <a:srgbClr val="F4F6F8"/>
          </a:solidFill>
          <a:ln xmlns:a="http://schemas.openxmlformats.org/drawingml/2006/main" w="9525">
            <a:solidFill>
              <a:srgbClr val="D7DDE5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B34CC1E-7868-460F-AA78-7D0023441F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2019300"/>
            <a:ext cx="18288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11827"/>
                </a:solidFill>
                <a:latin typeface="PingFang SC, Helvetica Neue, Arial, sans-serif"/>
                <a:ea typeface="PingFang SC, Helvetica Neue, Arial, sans-serif"/>
                <a:cs typeface="PingFang SC, Helvetica Neue, Arial, sans-serif"/>
              </a:defRPr>
            </a:pPr>
            <a:r>
              <a:rPr sz="1350" b="1">
                <a:solidFill>
                  <a:srgbClr val="111827"/>
                </a:solidFill>
                <a:latin typeface="PingFang SC, Helvetica Neue, Arial, sans-serif"/>
                <a:ea typeface="PingFang SC, Helvetica Neue, Arial, sans-serif"/>
                <a:cs typeface="PingFang SC, Helvetica Neue, Arial, sans-serif"/>
              </a:rPr>
              <a:t>Preload Bridge</a:t>
            </a:r>
          </a:p>
          <a:p xmlns:a="http://schemas.openxmlformats.org/drawingml/2006/main">
            <a:pPr algn="ctr">
              <a:defRPr sz="1350" b="1">
                <a:solidFill>
                  <a:srgbClr val="111827"/>
                </a:solidFill>
                <a:latin typeface="PingFang SC, Helvetica Neue, Arial, sans-serif"/>
                <a:ea typeface="PingFang SC, Helvetica Neue, Arial, sans-serif"/>
                <a:cs typeface="PingFang SC, Helvetica Neue, Arial, sans-serif"/>
              </a:defRPr>
            </a:pPr>
            <a:r>
              <a:rPr sz="1350" b="1">
                <a:solidFill>
                  <a:srgbClr val="111827"/>
                </a:solidFill>
                <a:latin typeface="PingFang SC, Helvetica Neue, Arial, sans-serif"/>
                <a:ea typeface="PingFang SC, Helvetica Neue, Arial, sans-serif"/>
                <a:cs typeface="PingFang SC, Helvetica Neue, Arial, sans-serif"/>
              </a:rPr>
              <a:t>window.qingji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CE8FA08-3F70-44F4-9818-36CE5280B8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1885950"/>
            <a:ext cx="2095500" cy="914400"/>
          </a:xfrm>
          <a:prstGeom xmlns:a="http://schemas.openxmlformats.org/drawingml/2006/main" prst="roundRect">
            <a:avLst>
              <a:gd name="adj" fmla="val 2083"/>
            </a:avLst>
          </a:prstGeom>
          <a:solidFill xmlns:a="http://schemas.openxmlformats.org/drawingml/2006/main">
            <a:srgbClr val="F4F6F8"/>
          </a:solidFill>
          <a:ln xmlns:a="http://schemas.openxmlformats.org/drawingml/2006/main" w="9525">
            <a:solidFill>
              <a:srgbClr val="D7DDE5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FA2FED3-5BF7-4401-BA5D-8CA2E645A2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77350" y="2019300"/>
            <a:ext cx="18288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11827"/>
                </a:solidFill>
                <a:latin typeface="PingFang SC, Helvetica Neue, Arial, sans-serif"/>
                <a:ea typeface="PingFang SC, Helvetica Neue, Arial, sans-serif"/>
                <a:cs typeface="PingFang SC, Helvetica Neue, Arial, sans-serif"/>
              </a:defRPr>
            </a:pPr>
            <a:r>
              <a:rPr sz="1350" b="1">
                <a:solidFill>
                  <a:srgbClr val="111827"/>
                </a:solidFill>
                <a:latin typeface="PingFang SC, Helvetica Neue, Arial, sans-serif"/>
                <a:ea typeface="PingFang SC, Helvetica Neue, Arial, sans-serif"/>
                <a:cs typeface="PingFang SC, Helvetica Neue, Arial, sans-serif"/>
              </a:rPr>
              <a:t>Electron Main</a:t>
            </a:r>
          </a:p>
          <a:p xmlns:a="http://schemas.openxmlformats.org/drawingml/2006/main">
            <a:pPr algn="ctr">
              <a:defRPr sz="1350" b="1">
                <a:solidFill>
                  <a:srgbClr val="111827"/>
                </a:solidFill>
                <a:latin typeface="PingFang SC, Helvetica Neue, Arial, sans-serif"/>
                <a:ea typeface="PingFang SC, Helvetica Neue, Arial, sans-serif"/>
                <a:cs typeface="PingFang SC, Helvetica Neue, Arial, sans-serif"/>
              </a:defRPr>
            </a:pPr>
            <a:r>
              <a:rPr sz="1350" b="1">
                <a:solidFill>
                  <a:srgbClr val="111827"/>
                </a:solidFill>
                <a:latin typeface="PingFang SC, Helvetica Neue, Arial, sans-serif"/>
                <a:ea typeface="PingFang SC, Helvetica Neue, Arial, sans-serif"/>
                <a:cs typeface="PingFang SC, Helvetica Neue, Arial, sans-serif"/>
              </a:rPr>
              <a:t>ipcMain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0F7749C-C4E9-43B0-B766-A95E22751D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33950" y="4324350"/>
            <a:ext cx="2476500" cy="971550"/>
          </a:xfrm>
          <a:prstGeom xmlns:a="http://schemas.openxmlformats.org/drawingml/2006/main" prst="roundRect">
            <a:avLst>
              <a:gd name="adj" fmla="val 1961"/>
            </a:avLst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D7DDE5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A1570F6-5F54-4254-AC7B-5E83762D17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67300" y="4457700"/>
            <a:ext cx="22098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11827"/>
                </a:solidFill>
                <a:latin typeface="PingFang SC, Helvetica Neue, Arial, sans-serif"/>
                <a:ea typeface="PingFang SC, Helvetica Neue, Arial, sans-serif"/>
                <a:cs typeface="PingFang SC, Helvetica Neue, Arial, sans-serif"/>
              </a:defRPr>
            </a:pPr>
            <a:r>
              <a:rPr sz="1350" b="1">
                <a:solidFill>
                  <a:srgbClr val="111827"/>
                </a:solidFill>
                <a:latin typeface="PingFang SC, Helvetica Neue, Arial, sans-serif"/>
                <a:ea typeface="PingFang SC, Helvetica Neue, Arial, sans-serif"/>
                <a:cs typeface="PingFang SC, Helvetica Neue, Arial, sans-serif"/>
              </a:rPr>
              <a:t>Local JSON</a:t>
            </a:r>
          </a:p>
          <a:p xmlns:a="http://schemas.openxmlformats.org/drawingml/2006/main">
            <a:pPr algn="ctr">
              <a:defRPr sz="1350" b="1">
                <a:solidFill>
                  <a:srgbClr val="111827"/>
                </a:solidFill>
                <a:latin typeface="PingFang SC, Helvetica Neue, Arial, sans-serif"/>
                <a:ea typeface="PingFang SC, Helvetica Neue, Arial, sans-serif"/>
                <a:cs typeface="PingFang SC, Helvetica Neue, Arial, sans-serif"/>
              </a:defRPr>
            </a:pPr>
            <a:r>
              <a:rPr sz="1350" b="1">
                <a:solidFill>
                  <a:srgbClr val="111827"/>
                </a:solidFill>
                <a:latin typeface="PingFang SC, Helvetica Neue, Arial, sans-serif"/>
                <a:ea typeface="PingFang SC, Helvetica Neue, Arial, sans-serif"/>
                <a:cs typeface="PingFang SC, Helvetica Neue, Arial, sans-serif"/>
              </a:rPr>
              <a:t>userData/qingji-data.json</a:t>
            </a:r>
          </a:p>
        </p:txBody>
      </p:sp>
      <p:cxnSp>
        <p:nvCxnSpPr>
          <p:cNvPr id="30" name=""/>
          <p:cNvCxnSpPr/>
          <p:nvPr/>
        </p:nvCxnSpPr>
        <p:spPr>
          <a:xfrm xmlns:a="http://schemas.openxmlformats.org/drawingml/2006/main">
            <a:off x="2895600" y="2343150"/>
            <a:ext cx="5905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56F6C"/>
            </a:solidFill>
            <a:prstDash val="solid"/>
          </a:ln>
        </p:spPr>
      </p:cxnSp>
      <p:cxnSp>
        <p:nvCxnSpPr>
          <p:cNvPr id="31" name=""/>
          <p:cNvCxnSpPr/>
          <p:nvPr/>
        </p:nvCxnSpPr>
        <p:spPr>
          <a:xfrm xmlns:a="http://schemas.openxmlformats.org/drawingml/2006/main">
            <a:off x="5695950" y="2343150"/>
            <a:ext cx="5905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56F6C"/>
            </a:solidFill>
            <a:prstDash val="solid"/>
          </a:ln>
        </p:spPr>
      </p:cxnSp>
      <p:cxnSp>
        <p:nvCxnSpPr>
          <p:cNvPr id="32" name=""/>
          <p:cNvCxnSpPr/>
          <p:nvPr/>
        </p:nvCxnSpPr>
        <p:spPr>
          <a:xfrm xmlns:a="http://schemas.openxmlformats.org/drawingml/2006/main">
            <a:off x="8496300" y="2343150"/>
            <a:ext cx="5905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56F6C"/>
            </a:solidFill>
            <a:prstDash val="solid"/>
          </a:ln>
        </p:spPr>
      </p:cxnSp>
      <p:cxnSp>
        <p:nvCxnSpPr>
          <p:cNvPr id="33" name=""/>
          <p:cNvCxnSpPr/>
          <p:nvPr/>
        </p:nvCxnSpPr>
        <p:spPr>
          <a:xfrm xmlns:a="http://schemas.openxmlformats.org/drawingml/2006/main">
            <a:off x="10191750" y="2895600"/>
            <a:ext cx="-4000500" cy="125730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3D8DFF"/>
            </a:solidFill>
            <a:prstDash val="solid"/>
          </a:ln>
        </p:spPr>
      </p:cxn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A8E2DE0-BF09-4775-8F7C-076E2812D7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5810250"/>
            <a:ext cx="9334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256F6C"/>
                </a:solidFill>
                <a:latin typeface="PingFang SC, Helvetica Neue, Arial, sans-serif"/>
                <a:ea typeface="PingFang SC, Helvetica Neue, Arial, sans-serif"/>
                <a:cs typeface="PingFang SC, Helvetica Neue, Arial, sans-serif"/>
              </a:defRPr>
            </a:pPr>
            <a:r>
              <a:rPr sz="1725" b="1">
                <a:solidFill>
                  <a:srgbClr val="256F6C"/>
                </a:solidFill>
                <a:latin typeface="PingFang SC, Helvetica Neue, Arial, sans-serif"/>
                <a:ea typeface="PingFang SC, Helvetica Neue, Arial, sans-serif"/>
                <a:cs typeface="PingFang SC, Helvetica Neue, Arial, sans-serif"/>
              </a:rPr>
              <a:t>Renderer 只通过受控 API 调用系统能力；数据校验与默认值由共享领域层兜底。</a:t>
            </a:r>
          </a:p>
        </p:txBody>
      </p:sp>
    </p:spTree>
    <p:extLst>
      <p:ext uri="{BB962C8B-B14F-4D97-AF65-F5344CB8AC3E}">
        <p14:creationId xmlns:p14="http://schemas.microsoft.com/office/powerpoint/2010/main" val="1955945418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CF22C06D-0222-4916-BB06-14291D5741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42900"/>
            <a:ext cx="92392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925" b="0">
                <a:solidFill>
                  <a:srgbClr val="111827"/>
                </a:solidFill>
                <a:latin typeface="PingFang SC, Helvetica Neue, Arial, sans-serif"/>
                <a:ea typeface="PingFang SC, Helvetica Neue, Arial, sans-serif"/>
                <a:cs typeface="PingFang SC, Helvetica Neue, Arial, sans-serif"/>
              </a:defRPr>
            </a:pPr>
            <a:r>
              <a:rPr sz="2925" b="0">
                <a:solidFill>
                  <a:srgbClr val="111827"/>
                </a:solidFill>
                <a:latin typeface="PingFang SC, Helvetica Neue, Arial, sans-serif"/>
                <a:ea typeface="PingFang SC, Helvetica Neue, Arial, sans-serif"/>
                <a:cs typeface="PingFang SC, Helvetica Neue, Arial, sans-serif"/>
              </a:rPr>
              <a:t>数据模型小而稳定，便于本地持久化和测试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9F9D90B-187A-4F0E-8A62-83F26E4A69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229350"/>
            <a:ext cx="666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57386"/>
                </a:solidFill>
                <a:latin typeface="PingFang SC, Helvetica Neue, Arial, sans-serif"/>
                <a:ea typeface="PingFang SC, Helvetica Neue, Arial, sans-serif"/>
                <a:cs typeface="PingFang SC, Helvetica Neue, Arial, sans-serif"/>
              </a:defRPr>
            </a:pPr>
            <a:r>
              <a:rPr sz="975" b="0">
                <a:solidFill>
                  <a:srgbClr val="657386"/>
                </a:solidFill>
                <a:latin typeface="PingFang SC, Helvetica Neue, Arial, sans-serif"/>
                <a:ea typeface="PingFang SC, Helvetica Neue, Arial, sans-serif"/>
                <a:cs typeface="PingFang SC, Helvetica Neue, Arial, sans-serif"/>
              </a:rPr>
              <a:t>06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4F5D3E9-F8E4-47CC-A726-85B71D6199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714500"/>
            <a:ext cx="1809750" cy="51435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18202A"/>
          </a:solidFill>
          <a:ln xmlns:a="http://schemas.openxmlformats.org/drawingml/2006/main" w="9525">
            <a:solidFill>
              <a:srgbClr val="18202A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D447F60-8996-42A2-8DF4-4EBDA2BB84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57375"/>
            <a:ext cx="1543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6667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  <a:latin typeface="PingFang SC, Helvetica Neue, Arial, sans-serif"/>
                <a:ea typeface="PingFang SC, Helvetica Neue, Arial, sans-serif"/>
                <a:cs typeface="PingFang SC, Helvetica Neue, Arial, sans-serif"/>
              </a:defRPr>
            </a:pPr>
            <a:r>
              <a:rPr sz="1350" b="1">
                <a:solidFill>
                  <a:srgbClr val="FFFFFF"/>
                </a:solidFill>
                <a:latin typeface="PingFang SC, Helvetica Neue, Arial, sans-serif"/>
                <a:ea typeface="PingFang SC, Helvetica Neue, Arial, sans-serif"/>
                <a:cs typeface="PingFang SC, Helvetica Neue, Arial, sans-serif"/>
              </a:rPr>
              <a:t>对象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92E7C85-B876-4A86-9EE3-3463460459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62200" y="1714500"/>
            <a:ext cx="3905250" cy="51435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18202A"/>
          </a:solidFill>
          <a:ln xmlns:a="http://schemas.openxmlformats.org/drawingml/2006/main" w="9525">
            <a:solidFill>
              <a:srgbClr val="18202A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859578E-33AE-4DC5-AA84-7CF50C3BFF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95550" y="1857375"/>
            <a:ext cx="36385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6667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  <a:latin typeface="PingFang SC, Helvetica Neue, Arial, sans-serif"/>
                <a:ea typeface="PingFang SC, Helvetica Neue, Arial, sans-serif"/>
                <a:cs typeface="PingFang SC, Helvetica Neue, Arial, sans-serif"/>
              </a:defRPr>
            </a:pPr>
            <a:r>
              <a:rPr sz="1350" b="1">
                <a:solidFill>
                  <a:srgbClr val="FFFFFF"/>
                </a:solidFill>
                <a:latin typeface="PingFang SC, Helvetica Neue, Arial, sans-serif"/>
                <a:ea typeface="PingFang SC, Helvetica Neue, Arial, sans-serif"/>
                <a:cs typeface="PingFang SC, Helvetica Neue, Arial, sans-serif"/>
              </a:rPr>
              <a:t>字段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A5EEEA4-9281-4B30-8550-230CCE72E4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1714500"/>
            <a:ext cx="4953000" cy="51435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18202A"/>
          </a:solidFill>
          <a:ln xmlns:a="http://schemas.openxmlformats.org/drawingml/2006/main" w="9525">
            <a:solidFill>
              <a:srgbClr val="18202A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ECCEBA1-7645-4EE4-89F7-4816AE3C13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1857375"/>
            <a:ext cx="4686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6667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  <a:latin typeface="PingFang SC, Helvetica Neue, Arial, sans-serif"/>
                <a:ea typeface="PingFang SC, Helvetica Neue, Arial, sans-serif"/>
                <a:cs typeface="PingFang SC, Helvetica Neue, Arial, sans-serif"/>
              </a:defRPr>
            </a:pPr>
            <a:r>
              <a:rPr sz="1350" b="1">
                <a:solidFill>
                  <a:srgbClr val="FFFFFF"/>
                </a:solidFill>
                <a:latin typeface="PingFang SC, Helvetica Neue, Arial, sans-serif"/>
                <a:ea typeface="PingFang SC, Helvetica Neue, Arial, sans-serif"/>
                <a:cs typeface="PingFang SC, Helvetica Neue, Arial, sans-serif"/>
              </a:rPr>
              <a:t>设计含义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B3A30B8-833F-4020-A24E-21F3F4092B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228850"/>
            <a:ext cx="1809750" cy="66675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4F6F8"/>
          </a:solidFill>
          <a:ln xmlns:a="http://schemas.openxmlformats.org/drawingml/2006/main" w="9525">
            <a:solidFill>
              <a:srgbClr val="D7DDE5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3F28407-FCCD-4827-AD27-6B53867ABB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362200"/>
            <a:ext cx="15430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8202A"/>
                </a:solidFill>
                <a:latin typeface="PingFang SC, Helvetica Neue, Arial, sans-serif"/>
                <a:ea typeface="PingFang SC, Helvetica Neue, Arial, sans-serif"/>
                <a:cs typeface="PingFang SC, Helvetica Neue, Arial, sans-serif"/>
              </a:defRPr>
            </a:pPr>
            <a:r>
              <a:rPr sz="1350" b="1">
                <a:solidFill>
                  <a:srgbClr val="18202A"/>
                </a:solidFill>
                <a:latin typeface="PingFang SC, Helvetica Neue, Arial, sans-serif"/>
                <a:ea typeface="PingFang SC, Helvetica Neue, Arial, sans-serif"/>
                <a:cs typeface="PingFang SC, Helvetica Neue, Arial, sans-serif"/>
              </a:rPr>
              <a:t>Note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3492838-4DC1-4A48-91B6-81DCE78923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62200" y="2228850"/>
            <a:ext cx="3905250" cy="66675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4F6F8"/>
          </a:solidFill>
          <a:ln xmlns:a="http://schemas.openxmlformats.org/drawingml/2006/main" w="9525">
            <a:solidFill>
              <a:srgbClr val="D7DDE5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7D2AEE9-D64D-40F7-9A16-AC7B12EB05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95550" y="2362200"/>
            <a:ext cx="36385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8202A"/>
                </a:solidFill>
                <a:latin typeface="PingFang SC, Helvetica Neue, Arial, sans-serif"/>
                <a:ea typeface="PingFang SC, Helvetica Neue, Arial, sans-serif"/>
                <a:cs typeface="PingFang SC, Helvetica Neue, Arial, sans-serif"/>
              </a:defRPr>
            </a:pPr>
            <a:r>
              <a:rPr sz="1200" b="0">
                <a:solidFill>
                  <a:srgbClr val="18202A"/>
                </a:solidFill>
                <a:latin typeface="PingFang SC, Helvetica Neue, Arial, sans-serif"/>
                <a:ea typeface="PingFang SC, Helvetica Neue, Arial, sans-serif"/>
                <a:cs typeface="PingFang SC, Helvetica Neue, Arial, sans-serif"/>
              </a:rPr>
              <a:t>id, title, content, createdAt, updatedAt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3C90A56-CFDA-4E49-A8DF-9F5CA5AA81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2228850"/>
            <a:ext cx="4953000" cy="66675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4F6F8"/>
          </a:solidFill>
          <a:ln xmlns:a="http://schemas.openxmlformats.org/drawingml/2006/main" w="9525">
            <a:solidFill>
              <a:srgbClr val="D7DDE5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DB14A81-EA8F-499D-BC87-FD2ED8539F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2362200"/>
            <a:ext cx="46863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8202A"/>
                </a:solidFill>
                <a:latin typeface="PingFang SC, Helvetica Neue, Arial, sans-serif"/>
                <a:ea typeface="PingFang SC, Helvetica Neue, Arial, sans-serif"/>
                <a:cs typeface="PingFang SC, Helvetica Neue, Arial, sans-serif"/>
              </a:defRPr>
            </a:pPr>
            <a:r>
              <a:rPr sz="1200" b="0">
                <a:solidFill>
                  <a:srgbClr val="18202A"/>
                </a:solidFill>
                <a:latin typeface="PingFang SC, Helvetica Neue, Arial, sans-serif"/>
                <a:ea typeface="PingFang SC, Helvetica Neue, Arial, sans-serif"/>
                <a:cs typeface="PingFang SC, Helvetica Neue, Arial, sans-serif"/>
              </a:rPr>
              <a:t>满足列表、编辑、排序、搜索四个核心动作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C44633D-E766-41A4-B749-93A5E5EA7D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895600"/>
            <a:ext cx="1809750" cy="66675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DE5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3C55CC6-DA32-4E4A-A3CC-05FDF0529E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028950"/>
            <a:ext cx="15430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8202A"/>
                </a:solidFill>
                <a:latin typeface="PingFang SC, Helvetica Neue, Arial, sans-serif"/>
                <a:ea typeface="PingFang SC, Helvetica Neue, Arial, sans-serif"/>
                <a:cs typeface="PingFang SC, Helvetica Neue, Arial, sans-serif"/>
              </a:defRPr>
            </a:pPr>
            <a:r>
              <a:rPr sz="1350" b="1">
                <a:solidFill>
                  <a:srgbClr val="18202A"/>
                </a:solidFill>
                <a:latin typeface="PingFang SC, Helvetica Neue, Arial, sans-serif"/>
                <a:ea typeface="PingFang SC, Helvetica Neue, Arial, sans-serif"/>
                <a:cs typeface="PingFang SC, Helvetica Neue, Arial, sans-serif"/>
              </a:rPr>
              <a:t>AppData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90F75AA-FC49-464A-BA1E-6ED49430CB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62200" y="2895600"/>
            <a:ext cx="3905250" cy="66675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DE5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029DC9B-0FEF-4F38-8F88-4E9800C3C7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95550" y="3028950"/>
            <a:ext cx="36385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8202A"/>
                </a:solidFill>
                <a:latin typeface="PingFang SC, Helvetica Neue, Arial, sans-serif"/>
                <a:ea typeface="PingFang SC, Helvetica Neue, Arial, sans-serif"/>
                <a:cs typeface="PingFang SC, Helvetica Neue, Arial, sans-serif"/>
              </a:defRPr>
            </a:pPr>
            <a:r>
              <a:rPr sz="1200" b="0">
                <a:solidFill>
                  <a:srgbClr val="18202A"/>
                </a:solidFill>
                <a:latin typeface="PingFang SC, Helvetica Neue, Arial, sans-serif"/>
                <a:ea typeface="PingFang SC, Helvetica Neue, Arial, sans-serif"/>
                <a:cs typeface="PingFang SC, Helvetica Neue, Arial, sans-serif"/>
              </a:rPr>
              <a:t>notes, theme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A0F8908-2CFD-4BD1-BD64-DFFCF61C8C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2895600"/>
            <a:ext cx="4953000" cy="66675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DE5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3163D86-398D-4845-BF9C-6B39B1D382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028950"/>
            <a:ext cx="46863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8202A"/>
                </a:solidFill>
                <a:latin typeface="PingFang SC, Helvetica Neue, Arial, sans-serif"/>
                <a:ea typeface="PingFang SC, Helvetica Neue, Arial, sans-serif"/>
                <a:cs typeface="PingFang SC, Helvetica Neue, Arial, sans-serif"/>
              </a:defRPr>
            </a:pPr>
            <a:r>
              <a:rPr sz="1200" b="0">
                <a:solidFill>
                  <a:srgbClr val="18202A"/>
                </a:solidFill>
                <a:latin typeface="PingFang SC, Helvetica Neue, Arial, sans-serif"/>
                <a:ea typeface="PingFang SC, Helvetica Neue, Arial, sans-serif"/>
                <a:cs typeface="PingFang SC, Helvetica Neue, Arial, sans-serif"/>
              </a:rPr>
              <a:t>把内容和外观设置一起保存，启动即可恢复状态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DB39DA2-DF17-4619-9341-9FB0FCD98C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562350"/>
            <a:ext cx="1809750" cy="66675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4F6F8"/>
          </a:solidFill>
          <a:ln xmlns:a="http://schemas.openxmlformats.org/drawingml/2006/main" w="9525">
            <a:solidFill>
              <a:srgbClr val="D7DDE5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538F8F2-58D5-4EA7-9765-BF8F9542D5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95700"/>
            <a:ext cx="15430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8202A"/>
                </a:solidFill>
                <a:latin typeface="PingFang SC, Helvetica Neue, Arial, sans-serif"/>
                <a:ea typeface="PingFang SC, Helvetica Neue, Arial, sans-serif"/>
                <a:cs typeface="PingFang SC, Helvetica Neue, Arial, sans-serif"/>
              </a:defRPr>
            </a:pPr>
            <a:r>
              <a:rPr sz="1350" b="1">
                <a:solidFill>
                  <a:srgbClr val="18202A"/>
                </a:solidFill>
                <a:latin typeface="PingFang SC, Helvetica Neue, Arial, sans-serif"/>
                <a:ea typeface="PingFang SC, Helvetica Neue, Arial, sans-serif"/>
                <a:cs typeface="PingFang SC, Helvetica Neue, Arial, sans-serif"/>
              </a:rPr>
              <a:t>Normalizer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DDC8B54-EF7F-4F4E-8480-F756D09421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62200" y="3562350"/>
            <a:ext cx="3905250" cy="66675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4F6F8"/>
          </a:solidFill>
          <a:ln xmlns:a="http://schemas.openxmlformats.org/drawingml/2006/main" w="9525">
            <a:solidFill>
              <a:srgbClr val="D7DDE5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E59DBD28-7E17-48E1-9578-D7A416EC21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95550" y="3695700"/>
            <a:ext cx="36385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8202A"/>
                </a:solidFill>
                <a:latin typeface="PingFang SC, Helvetica Neue, Arial, sans-serif"/>
                <a:ea typeface="PingFang SC, Helvetica Neue, Arial, sans-serif"/>
                <a:cs typeface="PingFang SC, Helvetica Neue, Arial, sans-serif"/>
              </a:defRPr>
            </a:pPr>
            <a:r>
              <a:rPr sz="1200" b="0">
                <a:solidFill>
                  <a:srgbClr val="18202A"/>
                </a:solidFill>
                <a:latin typeface="PingFang SC, Helvetica Neue, Arial, sans-serif"/>
                <a:ea typeface="PingFang SC, Helvetica Neue, Arial, sans-serif"/>
                <a:cs typeface="PingFang SC, Helvetica Neue, Arial, sans-serif"/>
              </a:rPr>
              <a:t>normalizeNotes / normalizeAppData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368F18EB-C5D4-4337-BBD9-77DC3246D8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3562350"/>
            <a:ext cx="4953000" cy="66675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4F6F8"/>
          </a:solidFill>
          <a:ln xmlns:a="http://schemas.openxmlformats.org/drawingml/2006/main" w="9525">
            <a:solidFill>
              <a:srgbClr val="D7DDE5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94BF21E1-5F7C-4B3C-80D5-0932BF36C8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695700"/>
            <a:ext cx="46863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8202A"/>
                </a:solidFill>
                <a:latin typeface="PingFang SC, Helvetica Neue, Arial, sans-serif"/>
                <a:ea typeface="PingFang SC, Helvetica Neue, Arial, sans-serif"/>
                <a:cs typeface="PingFang SC, Helvetica Neue, Arial, sans-serif"/>
              </a:defRPr>
            </a:pPr>
            <a:r>
              <a:rPr sz="1200" b="0">
                <a:solidFill>
                  <a:srgbClr val="18202A"/>
                </a:solidFill>
                <a:latin typeface="PingFang SC, Helvetica Neue, Arial, sans-serif"/>
                <a:ea typeface="PingFang SC, Helvetica Neue, Arial, sans-serif"/>
                <a:cs typeface="PingFang SC, Helvetica Neue, Arial, sans-serif"/>
              </a:rPr>
              <a:t>隔离坏数据，保证渲染层拿到合法结构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93FED2C5-48DD-491D-8313-F2CA28A02F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229100"/>
            <a:ext cx="1809750" cy="66675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DE5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D510A0F0-5946-4BC4-9BD2-27F3A4D62D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362450"/>
            <a:ext cx="15430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8202A"/>
                </a:solidFill>
                <a:latin typeface="PingFang SC, Helvetica Neue, Arial, sans-serif"/>
                <a:ea typeface="PingFang SC, Helvetica Neue, Arial, sans-serif"/>
                <a:cs typeface="PingFang SC, Helvetica Neue, Arial, sans-serif"/>
              </a:defRPr>
            </a:pPr>
            <a:r>
              <a:rPr sz="1350" b="1">
                <a:solidFill>
                  <a:srgbClr val="18202A"/>
                </a:solidFill>
                <a:latin typeface="PingFang SC, Helvetica Neue, Arial, sans-serif"/>
                <a:ea typeface="PingFang SC, Helvetica Neue, Arial, sans-serif"/>
                <a:cs typeface="PingFang SC, Helvetica Neue, Arial, sans-serif"/>
              </a:rPr>
              <a:t>Storage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6D5EA0F3-660A-477C-9612-AF5022B438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62200" y="4229100"/>
            <a:ext cx="3905250" cy="66675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DE5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D1D0D064-A6F9-473F-B072-AC2E5CFFD5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95550" y="4362450"/>
            <a:ext cx="36385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8202A"/>
                </a:solidFill>
                <a:latin typeface="PingFang SC, Helvetica Neue, Arial, sans-serif"/>
                <a:ea typeface="PingFang SC, Helvetica Neue, Arial, sans-serif"/>
                <a:cs typeface="PingFang SC, Helvetica Neue, Arial, sans-serif"/>
              </a:defRPr>
            </a:pPr>
            <a:r>
              <a:rPr sz="1200" b="0">
                <a:solidFill>
                  <a:srgbClr val="18202A"/>
                </a:solidFill>
                <a:latin typeface="PingFang SC, Helvetica Neue, Arial, sans-serif"/>
                <a:ea typeface="PingFang SC, Helvetica Neue, Arial, sans-serif"/>
                <a:cs typeface="PingFang SC, Helvetica Neue, Arial, sans-serif"/>
              </a:rPr>
              <a:t>loadAppData / saveAppData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141738A7-348F-476A-95A5-5232BA599C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4229100"/>
            <a:ext cx="4953000" cy="66675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DE5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D00C2CA6-034F-486B-B104-EE3BE10D4A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362450"/>
            <a:ext cx="46863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8202A"/>
                </a:solidFill>
                <a:latin typeface="PingFang SC, Helvetica Neue, Arial, sans-serif"/>
                <a:ea typeface="PingFang SC, Helvetica Neue, Arial, sans-serif"/>
                <a:cs typeface="PingFang SC, Helvetica Neue, Arial, sans-serif"/>
              </a:defRPr>
            </a:pPr>
            <a:r>
              <a:rPr sz="1200" b="0">
                <a:solidFill>
                  <a:srgbClr val="18202A"/>
                </a:solidFill>
                <a:latin typeface="PingFang SC, Helvetica Neue, Arial, sans-serif"/>
                <a:ea typeface="PingFang SC, Helvetica Neue, Arial, sans-serif"/>
                <a:cs typeface="PingFang SC, Helvetica Neue, Arial, sans-serif"/>
              </a:rPr>
              <a:t>读写 JSON 文件，失败时退回默认欢迎笔记</a:t>
            </a:r>
          </a:p>
        </p:txBody>
      </p:sp>
    </p:spTree>
    <p:extLst>
      <p:ext uri="{BB962C8B-B14F-4D97-AF65-F5344CB8AC3E}">
        <p14:creationId xmlns:p14="http://schemas.microsoft.com/office/powerpoint/2010/main" val="121228756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E948D6D8-E58E-4A47-82B6-47A2F6D9ED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42900"/>
            <a:ext cx="92392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925" b="0">
                <a:solidFill>
                  <a:srgbClr val="111827"/>
                </a:solidFill>
                <a:latin typeface="PingFang SC, Helvetica Neue, Arial, sans-serif"/>
                <a:ea typeface="PingFang SC, Helvetica Neue, Arial, sans-serif"/>
                <a:cs typeface="PingFang SC, Helvetica Neue, Arial, sans-serif"/>
              </a:defRPr>
            </a:pPr>
            <a:r>
              <a:rPr sz="2925" b="0">
                <a:solidFill>
                  <a:srgbClr val="111827"/>
                </a:solidFill>
                <a:latin typeface="PingFang SC, Helvetica Neue, Arial, sans-serif"/>
                <a:ea typeface="PingFang SC, Helvetica Neue, Arial, sans-serif"/>
                <a:cs typeface="PingFang SC, Helvetica Neue, Arial, sans-serif"/>
              </a:rPr>
              <a:t>桌面化方案优先保证可用性，再逐步补强安全边界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56354A6-813D-4000-B474-C5057F840B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229350"/>
            <a:ext cx="666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57386"/>
                </a:solidFill>
                <a:latin typeface="PingFang SC, Helvetica Neue, Arial, sans-serif"/>
                <a:ea typeface="PingFang SC, Helvetica Neue, Arial, sans-serif"/>
                <a:cs typeface="PingFang SC, Helvetica Neue, Arial, sans-serif"/>
              </a:defRPr>
            </a:pPr>
            <a:r>
              <a:rPr sz="975" b="0">
                <a:solidFill>
                  <a:srgbClr val="657386"/>
                </a:solidFill>
                <a:latin typeface="PingFang SC, Helvetica Neue, Arial, sans-serif"/>
                <a:ea typeface="PingFang SC, Helvetica Neue, Arial, sans-serif"/>
                <a:cs typeface="PingFang SC, Helvetica Neue, Arial, sans-serif"/>
              </a:rPr>
              <a:t>07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03C3342-417C-4B30-AC01-F78D66B97E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095500"/>
            <a:ext cx="2286000" cy="2476500"/>
          </a:xfrm>
          <a:prstGeom xmlns:a="http://schemas.openxmlformats.org/drawingml/2006/main" prst="roundRect">
            <a:avLst>
              <a:gd name="adj" fmla="val 2500"/>
            </a:avLst>
          </a:prstGeom>
          <a:solidFill xmlns:a="http://schemas.openxmlformats.org/drawingml/2006/main">
            <a:srgbClr val="F4F6F8"/>
          </a:solidFill>
          <a:ln xmlns:a="http://schemas.openxmlformats.org/drawingml/2006/main" w="9525">
            <a:solidFill>
              <a:srgbClr val="D7DDE5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A9EA86E-B27F-41FE-981F-0A8CC78BF9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266950"/>
            <a:ext cx="4191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4314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256F6C"/>
                </a:solidFill>
                <a:latin typeface="PingFang SC, Helvetica Neue, Arial, sans-serif"/>
                <a:ea typeface="PingFang SC, Helvetica Neue, Arial, sans-serif"/>
                <a:cs typeface="PingFang SC, Helvetica Neue, Arial, sans-serif"/>
              </a:defRPr>
            </a:pPr>
            <a:r>
              <a:rPr sz="2550" b="1">
                <a:solidFill>
                  <a:srgbClr val="256F6C"/>
                </a:solidFill>
                <a:latin typeface="PingFang SC, Helvetica Neue, Arial, sans-serif"/>
                <a:ea typeface="PingFang SC, Helvetica Neue, Arial, sans-serif"/>
                <a:cs typeface="PingFang SC, Helvetica Neue, Arial, sans-serif"/>
              </a:rPr>
              <a:t>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D9B42B1-531C-4CE5-B364-995D96E51A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" y="2343150"/>
            <a:ext cx="1333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3889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11827"/>
                </a:solidFill>
                <a:latin typeface="PingFang SC, Helvetica Neue, Arial, sans-serif"/>
                <a:ea typeface="PingFang SC, Helvetica Neue, Arial, sans-serif"/>
                <a:cs typeface="PingFang SC, Helvetica Neue, Arial, sans-serif"/>
              </a:defRPr>
            </a:pPr>
            <a:r>
              <a:rPr sz="1800" b="1">
                <a:solidFill>
                  <a:srgbClr val="111827"/>
                </a:solidFill>
                <a:latin typeface="PingFang SC, Helvetica Neue, Arial, sans-serif"/>
                <a:ea typeface="PingFang SC, Helvetica Neue, Arial, sans-serif"/>
                <a:cs typeface="PingFang SC, Helvetica Neue, Arial, sans-serif"/>
              </a:rPr>
              <a:t>启动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7471CBF-B1B7-4DBC-841F-2E05C2B2EC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028950"/>
            <a:ext cx="184785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8202A"/>
                </a:solidFill>
                <a:latin typeface="PingFang SC, Helvetica Neue, Arial, sans-serif"/>
                <a:ea typeface="PingFang SC, Helvetica Neue, Arial, sans-serif"/>
                <a:cs typeface="PingFang SC, Helvetica Neue, Arial, sans-serif"/>
              </a:defRPr>
            </a:pPr>
            <a:r>
              <a:rPr sz="1200" b="0">
                <a:solidFill>
                  <a:srgbClr val="18202A"/>
                </a:solidFill>
                <a:latin typeface="PingFang SC, Helvetica Neue, Arial, sans-serif"/>
                <a:ea typeface="PingFang SC, Helvetica Neue, Arial, sans-serif"/>
                <a:cs typeface="PingFang SC, Helvetica Neue, Arial, sans-serif"/>
              </a:rPr>
              <a:t>Electron 创建主窗口，开发态加载 Vite，生产态加载 dist/index.html。</a:t>
            </a:r>
          </a:p>
        </p:txBody>
      </p:sp>
      <p:cxnSp>
        <p:nvCxnSpPr>
          <p:cNvPr id="29" name=""/>
          <p:cNvCxnSpPr/>
          <p:nvPr/>
        </p:nvCxnSpPr>
        <p:spPr>
          <a:xfrm xmlns:a="http://schemas.openxmlformats.org/drawingml/2006/main">
            <a:off x="3048000" y="3333750"/>
            <a:ext cx="3619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56F6C"/>
            </a:solidFill>
            <a:prstDash val="solid"/>
          </a:ln>
        </p:spPr>
      </p:cxn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EE83840-4E66-4553-9B9D-57ED7E3B03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86150" y="2095500"/>
            <a:ext cx="2286000" cy="2476500"/>
          </a:xfrm>
          <a:prstGeom xmlns:a="http://schemas.openxmlformats.org/drawingml/2006/main" prst="roundRect">
            <a:avLst>
              <a:gd name="adj" fmla="val 2500"/>
            </a:avLst>
          </a:prstGeom>
          <a:solidFill xmlns:a="http://schemas.openxmlformats.org/drawingml/2006/main">
            <a:srgbClr val="F4F6F8"/>
          </a:solidFill>
          <a:ln xmlns:a="http://schemas.openxmlformats.org/drawingml/2006/main" w="9525">
            <a:solidFill>
              <a:srgbClr val="D7DDE5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C461381-B860-4678-B9C8-2084CFD282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2266950"/>
            <a:ext cx="4191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4314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256F6C"/>
                </a:solidFill>
                <a:latin typeface="PingFang SC, Helvetica Neue, Arial, sans-serif"/>
                <a:ea typeface="PingFang SC, Helvetica Neue, Arial, sans-serif"/>
                <a:cs typeface="PingFang SC, Helvetica Neue, Arial, sans-serif"/>
              </a:defRPr>
            </a:pPr>
            <a:r>
              <a:rPr sz="2550" b="1">
                <a:solidFill>
                  <a:srgbClr val="256F6C"/>
                </a:solidFill>
                <a:latin typeface="PingFang SC, Helvetica Neue, Arial, sans-serif"/>
                <a:ea typeface="PingFang SC, Helvetica Neue, Arial, sans-serif"/>
                <a:cs typeface="PingFang SC, Helvetica Neue, Arial, sans-serif"/>
              </a:rPr>
              <a:t>2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DBE188E-BB6A-43F3-B474-EBAB6C8737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2343150"/>
            <a:ext cx="1333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3889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11827"/>
                </a:solidFill>
                <a:latin typeface="PingFang SC, Helvetica Neue, Arial, sans-serif"/>
                <a:ea typeface="PingFang SC, Helvetica Neue, Arial, sans-serif"/>
                <a:cs typeface="PingFang SC, Helvetica Neue, Arial, sans-serif"/>
              </a:defRPr>
            </a:pPr>
            <a:r>
              <a:rPr sz="1800" b="1">
                <a:solidFill>
                  <a:srgbClr val="111827"/>
                </a:solidFill>
                <a:latin typeface="PingFang SC, Helvetica Neue, Arial, sans-serif"/>
                <a:ea typeface="PingFang SC, Helvetica Neue, Arial, sans-serif"/>
                <a:cs typeface="PingFang SC, Helvetica Neue, Arial, sans-serif"/>
              </a:rPr>
              <a:t>读取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9AB982C-E550-4D82-AF04-0B1823AADC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95700" y="3028950"/>
            <a:ext cx="184785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8202A"/>
                </a:solidFill>
                <a:latin typeface="PingFang SC, Helvetica Neue, Arial, sans-serif"/>
                <a:ea typeface="PingFang SC, Helvetica Neue, Arial, sans-serif"/>
                <a:cs typeface="PingFang SC, Helvetica Neue, Arial, sans-serif"/>
              </a:defRPr>
            </a:pPr>
            <a:r>
              <a:rPr sz="1200" b="0">
                <a:solidFill>
                  <a:srgbClr val="18202A"/>
                </a:solidFill>
                <a:latin typeface="PingFang SC, Helvetica Neue, Arial, sans-serif"/>
                <a:ea typeface="PingFang SC, Helvetica Neue, Arial, sans-serif"/>
                <a:cs typeface="PingFang SC, Helvetica Neue, Arial, sans-serif"/>
              </a:rPr>
              <a:t>Renderer 通过 preload 调用 loadAppData，主进程读取 userData。</a:t>
            </a:r>
          </a:p>
        </p:txBody>
      </p:sp>
      <p:cxnSp>
        <p:nvCxnSpPr>
          <p:cNvPr id="34" name=""/>
          <p:cNvCxnSpPr/>
          <p:nvPr/>
        </p:nvCxnSpPr>
        <p:spPr>
          <a:xfrm xmlns:a="http://schemas.openxmlformats.org/drawingml/2006/main">
            <a:off x="5829300" y="3333750"/>
            <a:ext cx="3619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56F6C"/>
            </a:solidFill>
            <a:prstDash val="solid"/>
          </a:ln>
        </p:spPr>
      </p:cxn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8A6B0B2-82ED-4A3F-A95C-31FC3C60A0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2095500"/>
            <a:ext cx="2286000" cy="2476500"/>
          </a:xfrm>
          <a:prstGeom xmlns:a="http://schemas.openxmlformats.org/drawingml/2006/main" prst="roundRect">
            <a:avLst>
              <a:gd name="adj" fmla="val 2500"/>
            </a:avLst>
          </a:prstGeom>
          <a:solidFill xmlns:a="http://schemas.openxmlformats.org/drawingml/2006/main">
            <a:srgbClr val="F4F6F8"/>
          </a:solidFill>
          <a:ln xmlns:a="http://schemas.openxmlformats.org/drawingml/2006/main" w="9525">
            <a:solidFill>
              <a:srgbClr val="D7DDE5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BB514B0-E2D4-4C90-8F57-0C66D11591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2266950"/>
            <a:ext cx="4191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4314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256F6C"/>
                </a:solidFill>
                <a:latin typeface="PingFang SC, Helvetica Neue, Arial, sans-serif"/>
                <a:ea typeface="PingFang SC, Helvetica Neue, Arial, sans-serif"/>
                <a:cs typeface="PingFang SC, Helvetica Neue, Arial, sans-serif"/>
              </a:defRPr>
            </a:pPr>
            <a:r>
              <a:rPr sz="2550" b="1">
                <a:solidFill>
                  <a:srgbClr val="256F6C"/>
                </a:solidFill>
                <a:latin typeface="PingFang SC, Helvetica Neue, Arial, sans-serif"/>
                <a:ea typeface="PingFang SC, Helvetica Neue, Arial, sans-serif"/>
                <a:cs typeface="PingFang SC, Helvetica Neue, Arial, sans-serif"/>
              </a:rPr>
              <a:t>3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7CFC709-4E95-4A2E-8A71-4CD2EF4F93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72300" y="2343150"/>
            <a:ext cx="1333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3889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11827"/>
                </a:solidFill>
                <a:latin typeface="PingFang SC, Helvetica Neue, Arial, sans-serif"/>
                <a:ea typeface="PingFang SC, Helvetica Neue, Arial, sans-serif"/>
                <a:cs typeface="PingFang SC, Helvetica Neue, Arial, sans-serif"/>
              </a:defRPr>
            </a:pPr>
            <a:r>
              <a:rPr sz="1800" b="1">
                <a:solidFill>
                  <a:srgbClr val="111827"/>
                </a:solidFill>
                <a:latin typeface="PingFang SC, Helvetica Neue, Arial, sans-serif"/>
                <a:ea typeface="PingFang SC, Helvetica Neue, Arial, sans-serif"/>
                <a:cs typeface="PingFang SC, Helvetica Neue, Arial, sans-serif"/>
              </a:rPr>
              <a:t>编辑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796B246-4E4F-4097-8F4B-BD5DA17B35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3028950"/>
            <a:ext cx="184785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8202A"/>
                </a:solidFill>
                <a:latin typeface="PingFang SC, Helvetica Neue, Arial, sans-serif"/>
                <a:ea typeface="PingFang SC, Helvetica Neue, Arial, sans-serif"/>
                <a:cs typeface="PingFang SC, Helvetica Neue, Arial, sans-serif"/>
              </a:defRPr>
            </a:pPr>
            <a:r>
              <a:rPr sz="1200" b="0">
                <a:solidFill>
                  <a:srgbClr val="18202A"/>
                </a:solidFill>
                <a:latin typeface="PingFang SC, Helvetica Neue, Arial, sans-serif"/>
                <a:ea typeface="PingFang SC, Helvetica Neue, Arial, sans-serif"/>
                <a:cs typeface="PingFang SC, Helvetica Neue, Arial, sans-serif"/>
              </a:rPr>
              <a:t>React state 即时响应，领域函数生成下一版 notes 和 updatedAt。</a:t>
            </a:r>
          </a:p>
        </p:txBody>
      </p:sp>
      <p:cxnSp>
        <p:nvCxnSpPr>
          <p:cNvPr id="39" name=""/>
          <p:cNvCxnSpPr/>
          <p:nvPr/>
        </p:nvCxnSpPr>
        <p:spPr>
          <a:xfrm xmlns:a="http://schemas.openxmlformats.org/drawingml/2006/main">
            <a:off x="8610600" y="3333750"/>
            <a:ext cx="3619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56F6C"/>
            </a:solidFill>
            <a:prstDash val="solid"/>
          </a:ln>
        </p:spPr>
      </p:cxn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4C1374F-681A-4F95-BC42-A5CD106073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2095500"/>
            <a:ext cx="2286000" cy="2476500"/>
          </a:xfrm>
          <a:prstGeom xmlns:a="http://schemas.openxmlformats.org/drawingml/2006/main" prst="roundRect">
            <a:avLst>
              <a:gd name="adj" fmla="val 2500"/>
            </a:avLst>
          </a:prstGeom>
          <a:solidFill xmlns:a="http://schemas.openxmlformats.org/drawingml/2006/main">
            <a:srgbClr val="E9F4F2"/>
          </a:solidFill>
          <a:ln xmlns:a="http://schemas.openxmlformats.org/drawingml/2006/main" w="9525">
            <a:solidFill>
              <a:srgbClr val="9CC9C5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6A5F040-9CA7-4B89-B716-44EFD602E8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0200" y="2266950"/>
            <a:ext cx="4191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4314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256F6C"/>
                </a:solidFill>
                <a:latin typeface="PingFang SC, Helvetica Neue, Arial, sans-serif"/>
                <a:ea typeface="PingFang SC, Helvetica Neue, Arial, sans-serif"/>
                <a:cs typeface="PingFang SC, Helvetica Neue, Arial, sans-serif"/>
              </a:defRPr>
            </a:pPr>
            <a:r>
              <a:rPr sz="2550" b="1">
                <a:solidFill>
                  <a:srgbClr val="256F6C"/>
                </a:solidFill>
                <a:latin typeface="PingFang SC, Helvetica Neue, Arial, sans-serif"/>
                <a:ea typeface="PingFang SC, Helvetica Neue, Arial, sans-serif"/>
                <a:cs typeface="PingFang SC, Helvetica Neue, Arial, sans-serif"/>
              </a:rPr>
              <a:t>4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E20F365-3BD0-4A1B-9303-2AF4CE42D2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53600" y="2343150"/>
            <a:ext cx="1333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3889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11827"/>
                </a:solidFill>
                <a:latin typeface="PingFang SC, Helvetica Neue, Arial, sans-serif"/>
                <a:ea typeface="PingFang SC, Helvetica Neue, Arial, sans-serif"/>
                <a:cs typeface="PingFang SC, Helvetica Neue, Arial, sans-serif"/>
              </a:defRPr>
            </a:pPr>
            <a:r>
              <a:rPr sz="1800" b="1">
                <a:solidFill>
                  <a:srgbClr val="111827"/>
                </a:solidFill>
                <a:latin typeface="PingFang SC, Helvetica Neue, Arial, sans-serif"/>
                <a:ea typeface="PingFang SC, Helvetica Neue, Arial, sans-serif"/>
                <a:cs typeface="PingFang SC, Helvetica Neue, Arial, sans-serif"/>
              </a:rPr>
              <a:t>保存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458F8E5-DF8B-4A51-93DA-5D20E80C8D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58300" y="3028950"/>
            <a:ext cx="184785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8202A"/>
                </a:solidFill>
                <a:latin typeface="PingFang SC, Helvetica Neue, Arial, sans-serif"/>
                <a:ea typeface="PingFang SC, Helvetica Neue, Arial, sans-serif"/>
                <a:cs typeface="PingFang SC, Helvetica Neue, Arial, sans-serif"/>
              </a:defRPr>
            </a:pPr>
            <a:r>
              <a:rPr sz="1200" b="0">
                <a:solidFill>
                  <a:srgbClr val="18202A"/>
                </a:solidFill>
                <a:latin typeface="PingFang SC, Helvetica Neue, Arial, sans-serif"/>
                <a:ea typeface="PingFang SC, Helvetica Neue, Arial, sans-serif"/>
                <a:cs typeface="PingFang SC, Helvetica Neue, Arial, sans-serif"/>
              </a:rPr>
              <a:t>saveAppData 归一化后写入 qingji-data.json，返回已保存数据。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1A29C83-659F-4B83-A203-5F4158A6A3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429250"/>
            <a:ext cx="9906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3302"/>
          </a:bodyPr>
          <a:lstStyle xmlns:a="http://schemas.openxmlformats.org/drawingml/2006/main"/>
          <a:p xmlns:a="http://schemas.openxmlformats.org/drawingml/2006/main">
            <a:pPr algn="ctr">
              <a:defRPr sz="1500" b="0">
                <a:solidFill>
                  <a:srgbClr val="18202A"/>
                </a:solidFill>
                <a:latin typeface="PingFang SC, Helvetica Neue, Arial, sans-serif"/>
                <a:ea typeface="PingFang SC, Helvetica Neue, Arial, sans-serif"/>
                <a:cs typeface="PingFang SC, Helvetica Neue, Arial, sans-serif"/>
              </a:defRPr>
            </a:pPr>
            <a:r>
              <a:rPr sz="1500" b="0">
                <a:solidFill>
                  <a:srgbClr val="18202A"/>
                </a:solidFill>
                <a:latin typeface="PingFang SC, Helvetica Neue, Arial, sans-serif"/>
                <a:ea typeface="PingFang SC, Helvetica Neue, Arial, sans-serif"/>
                <a:cs typeface="PingFang SC, Helvetica Neue, Arial, sans-serif"/>
              </a:rPr>
              <a:t>当前安全取舍：contextIsolation 开启、nodeIntegration 关闭；后续可把 sandbox 调整为 true，并收紧 IPC schema 校验。</a:t>
            </a:r>
          </a:p>
        </p:txBody>
      </p:sp>
    </p:spTree>
    <p:extLst>
      <p:ext uri="{BB962C8B-B14F-4D97-AF65-F5344CB8AC3E}">
        <p14:creationId xmlns:p14="http://schemas.microsoft.com/office/powerpoint/2010/main" val="1529383760"/>
      </p:ext>
    </p:extLst>
  </p:cSld>
</p:sld>
</file>

<file path=ppt/slides/slide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C42BA7C4-144D-4407-8B67-ABF09F5839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42900"/>
            <a:ext cx="92392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925" b="0">
                <a:solidFill>
                  <a:srgbClr val="111827"/>
                </a:solidFill>
                <a:latin typeface="PingFang SC, Helvetica Neue, Arial, sans-serif"/>
                <a:ea typeface="PingFang SC, Helvetica Neue, Arial, sans-serif"/>
                <a:cs typeface="PingFang SC, Helvetica Neue, Arial, sans-serif"/>
              </a:defRPr>
            </a:pPr>
            <a:r>
              <a:rPr sz="2925" b="0">
                <a:solidFill>
                  <a:srgbClr val="111827"/>
                </a:solidFill>
                <a:latin typeface="PingFang SC, Helvetica Neue, Arial, sans-serif"/>
                <a:ea typeface="PingFang SC, Helvetica Neue, Arial, sans-serif"/>
                <a:cs typeface="PingFang SC, Helvetica Neue, Arial, sans-serif"/>
              </a:rPr>
              <a:t>下一阶段的路线应服务“可信的本地笔记”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BE07730-0116-4BAA-BDFF-4E32F997E9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229350"/>
            <a:ext cx="666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57386"/>
                </a:solidFill>
                <a:latin typeface="PingFang SC, Helvetica Neue, Arial, sans-serif"/>
                <a:ea typeface="PingFang SC, Helvetica Neue, Arial, sans-serif"/>
                <a:cs typeface="PingFang SC, Helvetica Neue, Arial, sans-serif"/>
              </a:defRPr>
            </a:pPr>
            <a:r>
              <a:rPr sz="975" b="0">
                <a:solidFill>
                  <a:srgbClr val="657386"/>
                </a:solidFill>
                <a:latin typeface="PingFang SC, Helvetica Neue, Arial, sans-serif"/>
                <a:ea typeface="PingFang SC, Helvetica Neue, Arial, sans-serif"/>
                <a:cs typeface="PingFang SC, Helvetica Neue, Arial, sans-serif"/>
              </a:rPr>
              <a:t>08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09AADAF-63A1-461D-9262-95269A1925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771650"/>
            <a:ext cx="2095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1333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256F6C"/>
                </a:solidFill>
                <a:latin typeface="PingFang SC, Helvetica Neue, Arial, sans-serif"/>
                <a:ea typeface="PingFang SC, Helvetica Neue, Arial, sans-serif"/>
                <a:cs typeface="PingFang SC, Helvetica Neue, Arial, sans-serif"/>
              </a:defRPr>
            </a:pPr>
            <a:r>
              <a:rPr sz="1875" b="1">
                <a:solidFill>
                  <a:srgbClr val="256F6C"/>
                </a:solidFill>
                <a:latin typeface="PingFang SC, Helvetica Neue, Arial, sans-serif"/>
                <a:ea typeface="PingFang SC, Helvetica Neue, Arial, sans-serif"/>
                <a:cs typeface="PingFang SC, Helvetica Neue, Arial, sans-serif"/>
              </a:rPr>
              <a:t>产品增强</a:t>
            </a:r>
          </a:p>
        </p:txBody>
      </p:sp>
      <p:cxnSp>
        <p:nvCxnSpPr>
          <p:cNvPr id="20" name=""/>
          <p:cNvCxnSpPr/>
          <p:nvPr/>
        </p:nvCxnSpPr>
        <p:spPr>
          <a:xfrm xmlns:a="http://schemas.openxmlformats.org/drawingml/2006/main">
            <a:off x="3028950" y="1962150"/>
            <a:ext cx="723900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D7DDE5"/>
            </a:solidFill>
            <a:prstDash val="solid"/>
          </a:ln>
        </p:spPr>
      </p:cxn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DB2BE93-708B-44F0-AF21-0800629B77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1733550"/>
            <a:ext cx="6858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8202A"/>
                </a:solidFill>
                <a:latin typeface="PingFang SC, Helvetica Neue, Arial, sans-serif"/>
                <a:ea typeface="PingFang SC, Helvetica Neue, Arial, sans-serif"/>
                <a:cs typeface="PingFang SC, Helvetica Neue, Arial, sans-serif"/>
              </a:defRPr>
            </a:pPr>
            <a:r>
              <a:rPr sz="1500" b="0">
                <a:solidFill>
                  <a:srgbClr val="18202A"/>
                </a:solidFill>
                <a:latin typeface="PingFang SC, Helvetica Neue, Arial, sans-serif"/>
                <a:ea typeface="PingFang SC, Helvetica Neue, Arial, sans-serif"/>
                <a:cs typeface="PingFang SC, Helvetica Neue, Arial, sans-serif"/>
              </a:rPr>
              <a:t>快捷键、Markdown 预览、导入导出、标签或轻量文件夹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66F7BB8-CA1A-432A-91E7-EA64404EB1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686050"/>
            <a:ext cx="2095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1333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11827"/>
                </a:solidFill>
                <a:latin typeface="PingFang SC, Helvetica Neue, Arial, sans-serif"/>
                <a:ea typeface="PingFang SC, Helvetica Neue, Arial, sans-serif"/>
                <a:cs typeface="PingFang SC, Helvetica Neue, Arial, sans-serif"/>
              </a:defRPr>
            </a:pPr>
            <a:r>
              <a:rPr sz="1875" b="1">
                <a:solidFill>
                  <a:srgbClr val="111827"/>
                </a:solidFill>
                <a:latin typeface="PingFang SC, Helvetica Neue, Arial, sans-serif"/>
                <a:ea typeface="PingFang SC, Helvetica Neue, Arial, sans-serif"/>
                <a:cs typeface="PingFang SC, Helvetica Neue, Arial, sans-serif"/>
              </a:rPr>
              <a:t>工程增强</a:t>
            </a:r>
          </a:p>
        </p:txBody>
      </p:sp>
      <p:cxnSp>
        <p:nvCxnSpPr>
          <p:cNvPr id="23" name=""/>
          <p:cNvCxnSpPr/>
          <p:nvPr/>
        </p:nvCxnSpPr>
        <p:spPr>
          <a:xfrm xmlns:a="http://schemas.openxmlformats.org/drawingml/2006/main">
            <a:off x="3028950" y="2876550"/>
            <a:ext cx="723900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D7DDE5"/>
            </a:solidFill>
            <a:prstDash val="solid"/>
          </a:ln>
        </p:spPr>
      </p:cxn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7D3C24C-8A95-4885-A3B3-097CCC37B7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2647950"/>
            <a:ext cx="6858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8202A"/>
                </a:solidFill>
                <a:latin typeface="PingFang SC, Helvetica Neue, Arial, sans-serif"/>
                <a:ea typeface="PingFang SC, Helvetica Neue, Arial, sans-serif"/>
                <a:cs typeface="PingFang SC, Helvetica Neue, Arial, sans-serif"/>
              </a:defRPr>
            </a:pPr>
            <a:r>
              <a:rPr sz="1500" b="0">
                <a:solidFill>
                  <a:srgbClr val="18202A"/>
                </a:solidFill>
                <a:latin typeface="PingFang SC, Helvetica Neue, Arial, sans-serif"/>
                <a:ea typeface="PingFang SC, Helvetica Neue, Arial, sans-serif"/>
                <a:cs typeface="PingFang SC, Helvetica Neue, Arial, sans-serif"/>
              </a:rPr>
              <a:t>补齐 React/Electron 集成测试、保存防抖、迁移版本号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72BD4D7-F12D-4E0B-9A5D-987047892E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600450"/>
            <a:ext cx="2095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1333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11827"/>
                </a:solidFill>
                <a:latin typeface="PingFang SC, Helvetica Neue, Arial, sans-serif"/>
                <a:ea typeface="PingFang SC, Helvetica Neue, Arial, sans-serif"/>
                <a:cs typeface="PingFang SC, Helvetica Neue, Arial, sans-serif"/>
              </a:defRPr>
            </a:pPr>
            <a:r>
              <a:rPr sz="1875" b="1">
                <a:solidFill>
                  <a:srgbClr val="111827"/>
                </a:solidFill>
                <a:latin typeface="PingFang SC, Helvetica Neue, Arial, sans-serif"/>
                <a:ea typeface="PingFang SC, Helvetica Neue, Arial, sans-serif"/>
                <a:cs typeface="PingFang SC, Helvetica Neue, Arial, sans-serif"/>
              </a:rPr>
              <a:t>安全增强</a:t>
            </a:r>
          </a:p>
        </p:txBody>
      </p:sp>
      <p:cxnSp>
        <p:nvCxnSpPr>
          <p:cNvPr id="26" name=""/>
          <p:cNvCxnSpPr/>
          <p:nvPr/>
        </p:nvCxnSpPr>
        <p:spPr>
          <a:xfrm xmlns:a="http://schemas.openxmlformats.org/drawingml/2006/main">
            <a:off x="3028950" y="3790950"/>
            <a:ext cx="723900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D7DDE5"/>
            </a:solidFill>
            <a:prstDash val="solid"/>
          </a:ln>
        </p:spPr>
      </p:cxn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FDB86B4-9B11-4114-A2E0-6FAB3E1741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3562350"/>
            <a:ext cx="6858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8202A"/>
                </a:solidFill>
                <a:latin typeface="PingFang SC, Helvetica Neue, Arial, sans-serif"/>
                <a:ea typeface="PingFang SC, Helvetica Neue, Arial, sans-serif"/>
                <a:cs typeface="PingFang SC, Helvetica Neue, Arial, sans-serif"/>
              </a:defRPr>
            </a:pPr>
            <a:r>
              <a:rPr sz="1500" b="0">
                <a:solidFill>
                  <a:srgbClr val="18202A"/>
                </a:solidFill>
                <a:latin typeface="PingFang SC, Helvetica Neue, Arial, sans-serif"/>
                <a:ea typeface="PingFang SC, Helvetica Neue, Arial, sans-serif"/>
                <a:cs typeface="PingFang SC, Helvetica Neue, Arial, sans-serif"/>
              </a:rPr>
              <a:t>IPC 入参 schema、sandbox true、数据备份与恢复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7DC5367-F911-4DE9-A075-75C7943830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514850"/>
            <a:ext cx="2095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1333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11827"/>
                </a:solidFill>
                <a:latin typeface="PingFang SC, Helvetica Neue, Arial, sans-serif"/>
                <a:ea typeface="PingFang SC, Helvetica Neue, Arial, sans-serif"/>
                <a:cs typeface="PingFang SC, Helvetica Neue, Arial, sans-serif"/>
              </a:defRPr>
            </a:pPr>
            <a:r>
              <a:rPr sz="1875" b="1">
                <a:solidFill>
                  <a:srgbClr val="111827"/>
                </a:solidFill>
                <a:latin typeface="PingFang SC, Helvetica Neue, Arial, sans-serif"/>
                <a:ea typeface="PingFang SC, Helvetica Neue, Arial, sans-serif"/>
                <a:cs typeface="PingFang SC, Helvetica Neue, Arial, sans-serif"/>
              </a:rPr>
              <a:t>发布增强</a:t>
            </a:r>
          </a:p>
        </p:txBody>
      </p:sp>
      <p:cxnSp>
        <p:nvCxnSpPr>
          <p:cNvPr id="29" name=""/>
          <p:cNvCxnSpPr/>
          <p:nvPr/>
        </p:nvCxnSpPr>
        <p:spPr>
          <a:xfrm xmlns:a="http://schemas.openxmlformats.org/drawingml/2006/main">
            <a:off x="3028950" y="4705350"/>
            <a:ext cx="723900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D7DDE5"/>
            </a:solidFill>
            <a:prstDash val="solid"/>
          </a:ln>
        </p:spPr>
      </p:cxn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8BCC81C-07F6-439A-806F-9E7D66C84D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4476750"/>
            <a:ext cx="6858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8202A"/>
                </a:solidFill>
                <a:latin typeface="PingFang SC, Helvetica Neue, Arial, sans-serif"/>
                <a:ea typeface="PingFang SC, Helvetica Neue, Arial, sans-serif"/>
                <a:cs typeface="PingFang SC, Helvetica Neue, Arial, sans-serif"/>
              </a:defRPr>
            </a:pPr>
            <a:r>
              <a:rPr sz="1500" b="0">
                <a:solidFill>
                  <a:srgbClr val="18202A"/>
                </a:solidFill>
                <a:latin typeface="PingFang SC, Helvetica Neue, Arial, sans-serif"/>
                <a:ea typeface="PingFang SC, Helvetica Neue, Arial, sans-serif"/>
                <a:cs typeface="PingFang SC, Helvetica Neue, Arial, sans-serif"/>
              </a:rPr>
              <a:t>electron-builder 安装包、自动更新策略、崩溃日志边界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21BEA13-6A24-4A18-A7E7-130BFC9DCC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5429250"/>
            <a:ext cx="3143250" cy="590550"/>
          </a:xfrm>
          <a:prstGeom xmlns:a="http://schemas.openxmlformats.org/drawingml/2006/main" prst="roundRect">
            <a:avLst>
              <a:gd name="adj" fmla="val 3226"/>
            </a:avLst>
          </a:prstGeom>
          <a:solidFill xmlns:a="http://schemas.openxmlformats.org/drawingml/2006/main">
            <a:srgbClr val="256F6C"/>
          </a:solidFill>
          <a:ln xmlns:a="http://schemas.openxmlformats.org/drawingml/2006/main" w="9525">
            <a:solidFill>
              <a:srgbClr val="256F6C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A7D36E6-AA88-4D93-A92B-A37F502CA5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5600700"/>
            <a:ext cx="26479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5926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  <a:latin typeface="PingFang SC, Helvetica Neue, Arial, sans-serif"/>
                <a:ea typeface="PingFang SC, Helvetica Neue, Arial, sans-serif"/>
                <a:cs typeface="PingFang SC, Helvetica Neue, Arial, sans-serif"/>
              </a:defRPr>
            </a:pPr>
            <a:r>
              <a:rPr sz="1350" b="1">
                <a:solidFill>
                  <a:srgbClr val="FFFFFF"/>
                </a:solidFill>
                <a:latin typeface="PingFang SC, Helvetica Neue, Arial, sans-serif"/>
                <a:ea typeface="PingFang SC, Helvetica Neue, Arial, sans-serif"/>
                <a:cs typeface="PingFang SC, Helvetica Neue, Arial, sans-serif"/>
              </a:rPr>
              <a:t>优先级：先稳保存链路，再扩展编辑能力</a:t>
            </a:r>
          </a:p>
        </p:txBody>
      </p:sp>
    </p:spTree>
    <p:extLst>
      <p:ext uri="{BB962C8B-B14F-4D97-AF65-F5344CB8AC3E}">
        <p14:creationId xmlns:p14="http://schemas.microsoft.com/office/powerpoint/2010/main" val="1300520738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2026-07-14T14:08:45.5040000Z</dcterms:created>
  <dcterms:modified xsi:type="dcterms:W3CDTF">2026-07-14T14:08:45.5040000Z</dcterms:modified>
</coreProperties>
</file>